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6"/>
  </p:notesMasterIdLst>
  <p:sldIdLst>
    <p:sldId id="256" r:id="rId2"/>
    <p:sldId id="321" r:id="rId3"/>
    <p:sldId id="322" r:id="rId4"/>
    <p:sldId id="323" r:id="rId5"/>
    <p:sldId id="324" r:id="rId6"/>
    <p:sldId id="327" r:id="rId7"/>
    <p:sldId id="325" r:id="rId8"/>
    <p:sldId id="326" r:id="rId9"/>
    <p:sldId id="328" r:id="rId10"/>
    <p:sldId id="329" r:id="rId11"/>
    <p:sldId id="331" r:id="rId12"/>
    <p:sldId id="332" r:id="rId13"/>
    <p:sldId id="333" r:id="rId14"/>
    <p:sldId id="368" r:id="rId15"/>
    <p:sldId id="334" r:id="rId16"/>
    <p:sldId id="351" r:id="rId17"/>
    <p:sldId id="352" r:id="rId18"/>
    <p:sldId id="353" r:id="rId19"/>
    <p:sldId id="354" r:id="rId20"/>
    <p:sldId id="369" r:id="rId21"/>
    <p:sldId id="370" r:id="rId22"/>
    <p:sldId id="366" r:id="rId23"/>
    <p:sldId id="367" r:id="rId24"/>
    <p:sldId id="371" r:id="rId25"/>
    <p:sldId id="335" r:id="rId26"/>
    <p:sldId id="384" r:id="rId27"/>
    <p:sldId id="350" r:id="rId28"/>
    <p:sldId id="372" r:id="rId29"/>
    <p:sldId id="356" r:id="rId30"/>
    <p:sldId id="357" r:id="rId31"/>
    <p:sldId id="373" r:id="rId32"/>
    <p:sldId id="374" r:id="rId33"/>
    <p:sldId id="375" r:id="rId34"/>
    <p:sldId id="376" r:id="rId35"/>
    <p:sldId id="377" r:id="rId36"/>
    <p:sldId id="358" r:id="rId37"/>
    <p:sldId id="378" r:id="rId38"/>
    <p:sldId id="379" r:id="rId39"/>
    <p:sldId id="380" r:id="rId40"/>
    <p:sldId id="359" r:id="rId41"/>
    <p:sldId id="381" r:id="rId42"/>
    <p:sldId id="382" r:id="rId43"/>
    <p:sldId id="383" r:id="rId44"/>
    <p:sldId id="385" r:id="rId45"/>
    <p:sldId id="337" r:id="rId46"/>
    <p:sldId id="338" r:id="rId47"/>
    <p:sldId id="341" r:id="rId48"/>
    <p:sldId id="386" r:id="rId49"/>
    <p:sldId id="342" r:id="rId50"/>
    <p:sldId id="339" r:id="rId51"/>
    <p:sldId id="389" r:id="rId52"/>
    <p:sldId id="390" r:id="rId53"/>
    <p:sldId id="391" r:id="rId54"/>
    <p:sldId id="392" r:id="rId55"/>
    <p:sldId id="340" r:id="rId56"/>
    <p:sldId id="387" r:id="rId57"/>
    <p:sldId id="388" r:id="rId58"/>
    <p:sldId id="343" r:id="rId59"/>
    <p:sldId id="393" r:id="rId60"/>
    <p:sldId id="344" r:id="rId61"/>
    <p:sldId id="345" r:id="rId62"/>
    <p:sldId id="346" r:id="rId63"/>
    <p:sldId id="394" r:id="rId64"/>
    <p:sldId id="347" r:id="rId65"/>
    <p:sldId id="355" r:id="rId66"/>
    <p:sldId id="360" r:id="rId67"/>
    <p:sldId id="361" r:id="rId68"/>
    <p:sldId id="362" r:id="rId69"/>
    <p:sldId id="363" r:id="rId70"/>
    <p:sldId id="364" r:id="rId71"/>
    <p:sldId id="348" r:id="rId72"/>
    <p:sldId id="349" r:id="rId73"/>
    <p:sldId id="365" r:id="rId74"/>
    <p:sldId id="395" r:id="rId7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412" autoAdjust="0"/>
  </p:normalViewPr>
  <p:slideViewPr>
    <p:cSldViewPr>
      <p:cViewPr varScale="1">
        <p:scale>
          <a:sx n="60" d="100"/>
          <a:sy n="60" d="100"/>
        </p:scale>
        <p:origin x="1866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B30075-3A24-4D46-B377-E2331BFAF4B1}" type="datetimeFigureOut">
              <a:rPr lang="ru-RU" smtClean="0"/>
              <a:pPr/>
              <a:t>10.12.2024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3D34B-51FE-4E54-B400-F131F673B599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7351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2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13416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3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5476730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4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40864993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5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9496633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6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42893833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7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4847897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8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5434297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9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3358653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10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5592725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11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smtClean="0"/>
              <a:t>https://www.mssqltips.com/sqlservertip/1599/cursor-in-sql-server/</a:t>
            </a:r>
          </a:p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5264480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12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9693459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13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6082242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15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787535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16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4251283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17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7037728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18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9243538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19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619916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https://www-mssqltips-com.translate.goog/sqlservertip/6308/different-ways-to-write-a-cursor-in-sql-server/?_x_tr_sl=en&amp;_x_tr_tl=ru&amp;_x_tr_hl=ru&amp;_x_tr_pto=sc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3D34B-51FE-4E54-B400-F131F673B599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391733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25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6296661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27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set </a:t>
            </a:r>
            <a:r>
              <a:rPr lang="en-US" sz="1200" dirty="0" err="1" smtClean="0"/>
              <a:t>nocount</a:t>
            </a:r>
            <a:r>
              <a:rPr lang="en-US" sz="1200" dirty="0" smtClean="0"/>
              <a:t> on</a:t>
            </a:r>
          </a:p>
          <a:p>
            <a:pPr eaLnBrk="1" hangingPunct="1"/>
            <a:r>
              <a:rPr lang="ru-RU" dirty="0" smtClean="0"/>
              <a:t>Подавление</a:t>
            </a:r>
            <a:r>
              <a:rPr lang="ru-RU" baseline="0" dirty="0" smtClean="0"/>
              <a:t> сообщения о количестве обработанных строк.</a:t>
            </a:r>
          </a:p>
          <a:p>
            <a:pPr eaLnBrk="1" hangingPunct="1"/>
            <a:endParaRPr lang="ru-RU" baseline="0" dirty="0" smtClean="0"/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VARYING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 результирующий набор, поддерживаемый в качестве выходного параметра. Этот параметр динамически формируется процедурой, и его содержимое может различаться. Область применения — только параметры </a:t>
            </a:r>
            <a:r>
              <a:rPr lang="ru-RU" sz="1200" b="1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cursor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READONLY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Указывает, что параметр не может быть обновлен или изменен в тексте процедуры. Если тип параметра является возвращающим табличное значение типом, то должно быть указано ключевое слово READONLY.</a:t>
            </a:r>
          </a:p>
          <a:p>
            <a:pPr eaLnBrk="1" hangingPunct="1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58892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28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smtClean="0"/>
              <a:t>set </a:t>
            </a:r>
            <a:r>
              <a:rPr lang="en-US" sz="1200" dirty="0" err="1" smtClean="0"/>
              <a:t>nocount</a:t>
            </a:r>
            <a:r>
              <a:rPr lang="en-US" sz="1200" dirty="0" smtClean="0"/>
              <a:t> on</a:t>
            </a:r>
          </a:p>
          <a:p>
            <a:pPr eaLnBrk="1" hangingPunct="1"/>
            <a:r>
              <a:rPr lang="ru-RU" dirty="0" smtClean="0"/>
              <a:t>Подавление</a:t>
            </a:r>
            <a:r>
              <a:rPr lang="ru-RU" baseline="0" dirty="0" smtClean="0"/>
              <a:t> сообщения о количестве обработанных строк.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2881821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29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169847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30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839974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31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4386824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32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Здесь передаваемые в процедуру значения определяются через переменные. При вызове процедуры ей через запятую передаются значения. При этом значения передаются параметрам процедуры </a:t>
            </a:r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позиции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Так как первым определен параметр @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то ему будет передаваться первое значение - значение переменной @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prodName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Второму параметру - @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manufacturer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передается второе значение - значение переменной @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company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так далее. Главное, чтобы между передаваемыми значениями и параметрами процедуры было соответствие по типу данных.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09957547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33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8329319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34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36893928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35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3611574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36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73173565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37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40887680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38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1108500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39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94435865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40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Курсор SQL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как вывод хранимой процедуры</a:t>
            </a:r>
          </a:p>
          <a:p>
            <a:pPr eaLnBrk="1" hangingPunct="1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41282137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41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Курсор SQL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как вывод хранимой процедуры</a:t>
            </a:r>
          </a:p>
          <a:p>
            <a:pPr eaLnBrk="1" hangingPunct="1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6099392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42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Курсор SQL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как вывод хранимой процедуры</a:t>
            </a:r>
          </a:p>
          <a:p>
            <a:pPr eaLnBrk="1" hangingPunct="1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6477487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https://www-mssqltips-com.translate.goog/sqlservertip/6146/sql-server-stored-procedure-context-switching-and-impersonation-example/?_x_tr_sl=en&amp;_x_tr_tl=ru&amp;_x_tr_hl=ru&amp;_x_tr_pto=sc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3D34B-51FE-4E54-B400-F131F673B599}" type="slidenum">
              <a:rPr lang="ru-RU" smtClean="0"/>
              <a:pPr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23240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45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85222567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46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ru-RU" dirty="0" smtClean="0"/>
              <a:t>Пусть имеется таблица, в которой фиксируются все проводки по счетам.</a:t>
            </a:r>
          </a:p>
          <a:p>
            <a:r>
              <a:rPr lang="ru-RU" dirty="0" smtClean="0"/>
              <a:t>R2([Номер счета], Сумма, [Дата проведения])</a:t>
            </a:r>
            <a:endParaRPr lang="en-US" dirty="0" smtClean="0"/>
          </a:p>
          <a:p>
            <a:r>
              <a:rPr lang="ru-RU" dirty="0" smtClean="0"/>
              <a:t>Создать и применить функцию скалярного типа для вычисления суммарной прибыли за последние 30 календарных дней на указанном счете. </a:t>
            </a:r>
          </a:p>
          <a:p>
            <a:endParaRPr lang="ru-RU" dirty="0" smtClean="0"/>
          </a:p>
          <a:p>
            <a:pPr eaLnBrk="1" hangingPunct="1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296545129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47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195134153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48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28668488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49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07935715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50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34505413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51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08736371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55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8554332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58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 dirty="0" smtClean="0"/>
              <a:t>https://www-mssqltips-com.translate.goog/sqlservertutorial/9331/sql-server-triggers-inserted-table/?_x_tr_sl=en&amp;_x_tr_tl=ru&amp;_x_tr_hl=ru&amp;_x_tr_pto=sc</a:t>
            </a:r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394622872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60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04598836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61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dirty="0" smtClean="0"/>
          </a:p>
        </p:txBody>
      </p:sp>
    </p:spTree>
    <p:extLst>
      <p:ext uri="{BB962C8B-B14F-4D97-AF65-F5344CB8AC3E}">
        <p14:creationId xmlns:p14="http://schemas.microsoft.com/office/powerpoint/2010/main" val="83165765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62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03915779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Таблицы INSERTED и DELETED</a:t>
            </a:r>
          </a:p>
          <a:p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 вызове триггеров используются две специальные таблицы: таблица удаления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 таблица добавления (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table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Они используются для проверки операторов модификации данных и создания условий для работы триггеров. Пользователь не может непосредственно изменять данные в этих таблицах, но может использовать находящуюся в них информацию для проверки последствий выполнения операторов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таблице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сохраняются копии строк, которые удаляются операторами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delete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процессе выполнения этих операторов строки удаляются из триггерной таблицы и помещаются в таблицу удаления. Обычно триггерная таблица и таблица удаления не имеют общих строк.</a:t>
            </a:r>
            <a:b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таблице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inserted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сохраняются копии строк, которые вставляются операторами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insert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</a:t>
            </a:r>
            <a:r>
              <a:rPr lang="ru-RU" sz="1200" b="0" i="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update</a:t>
            </a:r>
            <a:r>
              <a:rPr lang="ru-RU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В процессе выполнения этих операторов новые строки вставляются в таблицу добавления и триггерную таблицу одновременно. Таким образом, таблица добавления всегда содержит копии новых строк, которые были добавлены в триггерную таблицу.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3D34B-51FE-4E54-B400-F131F673B599}" type="slidenum">
              <a:rPr lang="ru-RU" smtClean="0"/>
              <a:pPr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31184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64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58831787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65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2026002866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71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1034035210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5E6F357-1F9B-4A73-A2E2-D3DF684EFCAD}" type="slidenum">
              <a:rPr lang="ru-RU" smtClean="0"/>
              <a:pPr/>
              <a:t>72</a:t>
            </a:fld>
            <a:endParaRPr lang="ru-RU" smtClean="0"/>
          </a:p>
        </p:txBody>
      </p:sp>
      <p:sp>
        <p:nvSpPr>
          <p:cNvPr id="32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ru-RU" smtClean="0"/>
          </a:p>
        </p:txBody>
      </p:sp>
    </p:spTree>
    <p:extLst>
      <p:ext uri="{BB962C8B-B14F-4D97-AF65-F5344CB8AC3E}">
        <p14:creationId xmlns:p14="http://schemas.microsoft.com/office/powerpoint/2010/main" val="31283302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https://mai.moscow/display/MSP/2.+OLAP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D3D34B-51FE-4E54-B400-F131F673B599}" type="slidenum">
              <a:rPr lang="ru-RU" smtClean="0"/>
              <a:pPr/>
              <a:t>74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55481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92088" y="1482725"/>
            <a:ext cx="8723312" cy="1508125"/>
          </a:xfrm>
        </p:spPr>
        <p:txBody>
          <a:bodyPr>
            <a:normAutofit/>
          </a:bodyPr>
          <a:lstStyle/>
          <a:p>
            <a:pPr eaLnBrk="1" hangingPunct="1"/>
            <a:r>
              <a:rPr lang="ru-RU" sz="6000" b="1" dirty="0" smtClean="0">
                <a:solidFill>
                  <a:schemeClr val="tx2">
                    <a:lumMod val="75000"/>
                  </a:schemeClr>
                </a:solidFill>
              </a:rPr>
              <a:t>Технологии баз данных</a:t>
            </a:r>
          </a:p>
        </p:txBody>
      </p:sp>
      <p:sp>
        <p:nvSpPr>
          <p:cNvPr id="2052" name="Rectangle 137"/>
          <p:cNvSpPr>
            <a:spLocks noGrp="1" noChangeArrowheads="1"/>
          </p:cNvSpPr>
          <p:nvPr>
            <p:ph type="subTitle" idx="1"/>
          </p:nvPr>
        </p:nvSpPr>
        <p:spPr>
          <a:xfrm>
            <a:off x="838200" y="4038600"/>
            <a:ext cx="8686800" cy="1690687"/>
          </a:xfrm>
          <a:noFill/>
        </p:spPr>
        <p:txBody>
          <a:bodyPr>
            <a:normAutofit/>
          </a:bodyPr>
          <a:lstStyle/>
          <a:p>
            <a:pPr marL="609600" indent="-609600" algn="l">
              <a:lnSpc>
                <a:spcPct val="80000"/>
              </a:lnSpc>
            </a:pPr>
            <a:r>
              <a:rPr lang="en-US" sz="2500" b="1" dirty="0" smtClean="0">
                <a:solidFill>
                  <a:schemeClr val="accent2">
                    <a:lumMod val="75000"/>
                  </a:schemeClr>
                </a:solidFill>
              </a:rPr>
              <a:t>Transact  SQL</a:t>
            </a:r>
            <a:endParaRPr lang="ru-RU" sz="2500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609600" indent="-609600" algn="l">
              <a:lnSpc>
                <a:spcPct val="80000"/>
              </a:lnSpc>
            </a:pPr>
            <a:r>
              <a:rPr lang="ru-RU" sz="2400" dirty="0" smtClean="0"/>
              <a:t>	</a:t>
            </a:r>
          </a:p>
          <a:p>
            <a:pPr marL="609600" indent="-609600" algn="l">
              <a:lnSpc>
                <a:spcPct val="80000"/>
              </a:lnSpc>
              <a:buFontTx/>
              <a:buAutoNum type="arabicPeriod"/>
            </a:pPr>
            <a:endParaRPr lang="ru-RU" sz="2400" dirty="0" smtClean="0"/>
          </a:p>
          <a:p>
            <a:pPr marL="609600" indent="-609600" algn="l" eaLnBrk="1" hangingPunct="1">
              <a:lnSpc>
                <a:spcPct val="80000"/>
              </a:lnSpc>
              <a:buFontTx/>
              <a:buAutoNum type="arabicPeriod"/>
            </a:pPr>
            <a:endParaRPr lang="ru-RU" b="1" dirty="0" smtClean="0">
              <a:solidFill>
                <a:srgbClr val="000000"/>
              </a:solidFill>
            </a:endParaRPr>
          </a:p>
          <a:p>
            <a:pPr marL="609600" indent="-609600" algn="l" eaLnBrk="1" hangingPunct="1">
              <a:lnSpc>
                <a:spcPct val="80000"/>
              </a:lnSpc>
              <a:buFontTx/>
              <a:buAutoNum type="arabicPeriod"/>
            </a:pPr>
            <a:endParaRPr lang="ru-RU" b="1" dirty="0" smtClean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2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228600" y="1143000"/>
          <a:ext cx="8382000" cy="3364992"/>
        </p:xfrm>
        <a:graphic>
          <a:graphicData uri="http://schemas.openxmlformats.org/drawingml/2006/table">
            <a:tbl>
              <a:tblPr/>
              <a:tblGrid>
                <a:gridCol w="268856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69343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70114">
                <a:tc>
                  <a:txBody>
                    <a:bodyPr/>
                    <a:lstStyle/>
                    <a:p>
                      <a:pPr marR="7556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i="1" dirty="0">
                          <a:latin typeface="Times New Roman"/>
                          <a:ea typeface="Times New Roman"/>
                          <a:cs typeface="Times New Roman"/>
                        </a:rPr>
                        <a:t>Тип базы данных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R="75565" indent="21590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b="1" i="1" dirty="0">
                          <a:latin typeface="Times New Roman"/>
                          <a:ea typeface="Times New Roman"/>
                          <a:cs typeface="Times New Roman"/>
                        </a:rPr>
                        <a:t>Процедурные расширения SQL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latin typeface="Times New Roman"/>
                          <a:ea typeface="Times New Roman"/>
                          <a:cs typeface="Times New Roman"/>
                        </a:rPr>
                        <a:t>Microsoft</a:t>
                      </a: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 SQL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Transact–SQL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latin typeface="Times New Roman"/>
                          <a:ea typeface="Times New Roman"/>
                          <a:cs typeface="Times New Roman"/>
                        </a:rPr>
                        <a:t>Microsoft</a:t>
                      </a: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ru-RU" sz="24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Jet</a:t>
                      </a:r>
                      <a:r>
                        <a:rPr lang="ru-RU" sz="2400" dirty="0" smtClean="0">
                          <a:latin typeface="Times New Roman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ru-RU" sz="2400" dirty="0" err="1" smtClean="0">
                          <a:latin typeface="Times New Roman"/>
                          <a:ea typeface="Times New Roman"/>
                          <a:cs typeface="Times New Roman"/>
                        </a:rPr>
                        <a:t>Access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latin typeface="Times New Roman"/>
                          <a:ea typeface="Times New Roman"/>
                          <a:cs typeface="Times New Roman"/>
                        </a:rPr>
                        <a:t>Jet</a:t>
                      </a: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 SQL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MySQL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  <a:cs typeface="Times New Roman"/>
                        </a:rPr>
                        <a:t>SQL/PSM (SQL/Persistent Stored Module)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Oracle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  <a:cs typeface="Times New Roman"/>
                        </a:rPr>
                        <a:t>PL/SQL (Procedural Language/SQL)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IBM DB2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Times New Roman"/>
                          <a:ea typeface="Times New Roman"/>
                          <a:cs typeface="Times New Roman"/>
                        </a:rPr>
                        <a:t>SQL PL (SQL Procedural Language)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114"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latin typeface="Times New Roman"/>
                          <a:ea typeface="Times New Roman"/>
                          <a:cs typeface="Times New Roman"/>
                        </a:rPr>
                        <a:t>InterBase/Firebird</a:t>
                      </a:r>
                      <a:endParaRPr lang="ru-RU" sz="24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R="755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PSQL (</a:t>
                      </a:r>
                      <a:r>
                        <a:rPr lang="ru-RU" sz="2400" dirty="0" err="1">
                          <a:latin typeface="Times New Roman"/>
                          <a:ea typeface="Times New Roman"/>
                          <a:cs typeface="Times New Roman"/>
                        </a:rPr>
                        <a:t>Procedural</a:t>
                      </a:r>
                      <a:r>
                        <a:rPr lang="ru-RU" sz="2400" dirty="0">
                          <a:latin typeface="Times New Roman"/>
                          <a:ea typeface="Times New Roman"/>
                          <a:cs typeface="Times New Roman"/>
                        </a:rPr>
                        <a:t> SQL)</a:t>
                      </a:r>
                      <a:endParaRPr lang="ru-RU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304800" y="4724400"/>
            <a:ext cx="80772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SQL был расширен такими дополнительными возможностями как:</a:t>
            </a:r>
          </a:p>
          <a:p>
            <a:pPr lvl="0">
              <a:buFont typeface="Arial" pitchFamily="34" charset="0"/>
              <a:buChar char="•"/>
            </a:pPr>
            <a:r>
              <a:rPr lang="en-US" dirty="0" smtClean="0"/>
              <a:t> </a:t>
            </a:r>
            <a:r>
              <a:rPr lang="ru-RU" dirty="0" smtClean="0"/>
              <a:t>локальные и глобальные переменные, </a:t>
            </a:r>
          </a:p>
          <a:p>
            <a:pPr lvl="0">
              <a:buFont typeface="Arial" pitchFamily="34" charset="0"/>
              <a:buChar char="•"/>
            </a:pPr>
            <a:r>
              <a:rPr lang="ru-RU" dirty="0" smtClean="0"/>
              <a:t>управляющие операторы, </a:t>
            </a:r>
          </a:p>
          <a:p>
            <a:pPr lvl="0">
              <a:buFont typeface="Arial" pitchFamily="34" charset="0"/>
              <a:buChar char="•"/>
            </a:pPr>
            <a:r>
              <a:rPr lang="ru-RU" dirty="0" smtClean="0"/>
              <a:t>различные дополнительные функции для обработки строк, дат, математики и т.п.,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3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Переменные.</a:t>
            </a:r>
          </a:p>
          <a:p>
            <a:r>
              <a:rPr lang="ru-RU" dirty="0" smtClean="0"/>
              <a:t>Все используемые переменные должны быть поименованы. В MS SQL </a:t>
            </a:r>
            <a:r>
              <a:rPr lang="ru-RU" dirty="0" err="1" smtClean="0"/>
              <a:t>Server</a:t>
            </a:r>
            <a:r>
              <a:rPr lang="ru-RU" dirty="0" smtClean="0"/>
              <a:t> необходимо придерживаться следующих правил именования переменных: имя начинается со специального идентификатора(символа).</a:t>
            </a:r>
          </a:p>
          <a:p>
            <a:endParaRPr lang="ru-RU" dirty="0" smtClean="0"/>
          </a:p>
          <a:p>
            <a:r>
              <a:rPr lang="ru-RU" b="1" dirty="0" smtClean="0"/>
              <a:t>Типы идентификаторов</a:t>
            </a:r>
            <a:r>
              <a:rPr lang="ru-RU" dirty="0" smtClean="0"/>
              <a:t>:</a:t>
            </a:r>
          </a:p>
          <a:p>
            <a:pPr lvl="0"/>
            <a:r>
              <a:rPr lang="ru-RU" b="1" dirty="0" smtClean="0"/>
              <a:t>@</a:t>
            </a:r>
            <a:r>
              <a:rPr lang="ru-RU" dirty="0" smtClean="0"/>
              <a:t> - идентификатор локальной переменной (пользовательской).</a:t>
            </a:r>
          </a:p>
          <a:p>
            <a:pPr lvl="0"/>
            <a:r>
              <a:rPr lang="ru-RU" b="1" dirty="0" smtClean="0"/>
              <a:t>@@</a:t>
            </a:r>
            <a:r>
              <a:rPr lang="ru-RU" dirty="0" smtClean="0"/>
              <a:t> - идентификатор глобальной переменной (часто их называют встроенными функциями).</a:t>
            </a:r>
          </a:p>
          <a:p>
            <a:pPr lvl="0"/>
            <a:r>
              <a:rPr lang="ru-RU" b="1" dirty="0" smtClean="0"/>
              <a:t>#</a:t>
            </a:r>
            <a:r>
              <a:rPr lang="ru-RU" dirty="0" smtClean="0"/>
              <a:t> - идентификатор локальной таблицы или процедуры.</a:t>
            </a:r>
          </a:p>
          <a:p>
            <a:pPr lvl="0"/>
            <a:r>
              <a:rPr lang="ru-RU" b="1" dirty="0" smtClean="0"/>
              <a:t>## </a:t>
            </a:r>
            <a:r>
              <a:rPr lang="ru-RU" dirty="0" smtClean="0"/>
              <a:t>- идентификатор глобальной таблицы или процедуры.</a:t>
            </a:r>
          </a:p>
          <a:p>
            <a:pPr lvl="0"/>
            <a:r>
              <a:rPr lang="ru-RU" b="1" dirty="0" smtClean="0"/>
              <a:t>[ ] -</a:t>
            </a:r>
            <a:r>
              <a:rPr lang="ru-RU" dirty="0" smtClean="0"/>
              <a:t> идентификатор группировки слов в переменную.</a:t>
            </a:r>
          </a:p>
          <a:p>
            <a:r>
              <a:rPr lang="ru-RU" dirty="0" smtClean="0"/>
              <a:t>Для каждой переменной необходимо указать </a:t>
            </a:r>
            <a:r>
              <a:rPr lang="ru-RU" b="1" dirty="0" smtClean="0"/>
              <a:t>тип данных</a:t>
            </a:r>
            <a:r>
              <a:rPr lang="ru-RU" dirty="0" smtClean="0"/>
              <a:t>:</a:t>
            </a:r>
          </a:p>
          <a:p>
            <a:pPr lvl="0"/>
            <a:r>
              <a:rPr lang="ru-RU" dirty="0" smtClean="0"/>
              <a:t>Число</a:t>
            </a:r>
            <a:r>
              <a:rPr lang="en-US" dirty="0" smtClean="0"/>
              <a:t> - </a:t>
            </a:r>
            <a:r>
              <a:rPr lang="ru-RU" dirty="0" smtClean="0"/>
              <a:t>для хранения числовых переменных</a:t>
            </a:r>
            <a:r>
              <a:rPr lang="en-US" dirty="0" smtClean="0"/>
              <a:t> (</a:t>
            </a:r>
            <a:r>
              <a:rPr lang="en-US" dirty="0" err="1" smtClean="0"/>
              <a:t>int</a:t>
            </a:r>
            <a:r>
              <a:rPr lang="en-US" dirty="0" smtClean="0"/>
              <a:t>, </a:t>
            </a:r>
            <a:r>
              <a:rPr lang="en-US" dirty="0" err="1" smtClean="0"/>
              <a:t>tinyint</a:t>
            </a:r>
            <a:r>
              <a:rPr lang="en-US" dirty="0" smtClean="0"/>
              <a:t>, </a:t>
            </a:r>
            <a:r>
              <a:rPr lang="en-US" dirty="0" err="1" smtClean="0"/>
              <a:t>smallint</a:t>
            </a:r>
            <a:r>
              <a:rPr lang="en-US" dirty="0" smtClean="0"/>
              <a:t>, </a:t>
            </a:r>
            <a:r>
              <a:rPr lang="en-US" dirty="0" err="1" smtClean="0"/>
              <a:t>bigint</a:t>
            </a:r>
            <a:r>
              <a:rPr lang="en-US" dirty="0" smtClean="0"/>
              <a:t>, numeric, decimal, money, </a:t>
            </a:r>
            <a:r>
              <a:rPr lang="en-US" dirty="0" err="1" smtClean="0"/>
              <a:t>smallmoney</a:t>
            </a:r>
            <a:r>
              <a:rPr lang="en-US" dirty="0" smtClean="0"/>
              <a:t>, float, real).</a:t>
            </a:r>
            <a:endParaRPr lang="ru-RU" dirty="0" smtClean="0"/>
          </a:p>
          <a:p>
            <a:pPr lvl="0"/>
            <a:r>
              <a:rPr lang="ru-RU" dirty="0" smtClean="0"/>
              <a:t>Дата - для хранения даты и времени (</a:t>
            </a:r>
            <a:r>
              <a:rPr lang="ru-RU" dirty="0" err="1" smtClean="0"/>
              <a:t>datetime</a:t>
            </a:r>
            <a:r>
              <a:rPr lang="ru-RU" dirty="0" smtClean="0"/>
              <a:t>, </a:t>
            </a:r>
            <a:r>
              <a:rPr lang="ru-RU" dirty="0" err="1" smtClean="0"/>
              <a:t>smalldatetime,date</a:t>
            </a:r>
            <a:r>
              <a:rPr lang="ru-RU" dirty="0" smtClean="0"/>
              <a:t>,</a:t>
            </a:r>
            <a:r>
              <a:rPr lang="en-US" dirty="0" smtClean="0"/>
              <a:t>time</a:t>
            </a:r>
            <a:r>
              <a:rPr lang="ru-RU" dirty="0" smtClean="0"/>
              <a:t>).</a:t>
            </a:r>
          </a:p>
          <a:p>
            <a:pPr lvl="0"/>
            <a:r>
              <a:rPr lang="ru-RU" dirty="0" smtClean="0"/>
              <a:t>Строка - для хранения символьных данных (</a:t>
            </a:r>
            <a:r>
              <a:rPr lang="ru-RU" dirty="0" err="1" smtClean="0"/>
              <a:t>char</a:t>
            </a:r>
            <a:r>
              <a:rPr lang="ru-RU" dirty="0" smtClean="0"/>
              <a:t>, </a:t>
            </a:r>
            <a:r>
              <a:rPr lang="ru-RU" dirty="0" err="1" smtClean="0"/>
              <a:t>nchar</a:t>
            </a:r>
            <a:r>
              <a:rPr lang="ru-RU" dirty="0" smtClean="0"/>
              <a:t>, </a:t>
            </a:r>
            <a:r>
              <a:rPr lang="ru-RU" dirty="0" err="1" smtClean="0"/>
              <a:t>varchar</a:t>
            </a:r>
            <a:r>
              <a:rPr lang="ru-RU" dirty="0" smtClean="0"/>
              <a:t>, </a:t>
            </a:r>
            <a:r>
              <a:rPr lang="ru-RU" dirty="0" err="1" smtClean="0"/>
              <a:t>nvarchar</a:t>
            </a:r>
            <a:r>
              <a:rPr lang="ru-RU" dirty="0" smtClean="0"/>
              <a:t>).</a:t>
            </a:r>
          </a:p>
          <a:p>
            <a:pPr lvl="0"/>
            <a:r>
              <a:rPr lang="ru-RU" dirty="0" smtClean="0"/>
              <a:t>Двоичные - для хранения бинарных данных (</a:t>
            </a:r>
            <a:r>
              <a:rPr lang="ru-RU" dirty="0" err="1" smtClean="0"/>
              <a:t>binary</a:t>
            </a:r>
            <a:r>
              <a:rPr lang="ru-RU" dirty="0" smtClean="0"/>
              <a:t>, </a:t>
            </a:r>
            <a:r>
              <a:rPr lang="ru-RU" dirty="0" err="1" smtClean="0"/>
              <a:t>varbinary</a:t>
            </a:r>
            <a:r>
              <a:rPr lang="ru-RU" dirty="0" smtClean="0"/>
              <a:t>, </a:t>
            </a:r>
            <a:r>
              <a:rPr lang="ru-RU" dirty="0" err="1" smtClean="0"/>
              <a:t>bit</a:t>
            </a:r>
            <a:r>
              <a:rPr lang="ru-RU" dirty="0" smtClean="0"/>
              <a:t>).</a:t>
            </a:r>
          </a:p>
          <a:p>
            <a:pPr lvl="0"/>
            <a:r>
              <a:rPr lang="ru-RU" dirty="0" smtClean="0"/>
              <a:t>Специальные - указатели (</a:t>
            </a:r>
            <a:r>
              <a:rPr lang="ru-RU" dirty="0" err="1" smtClean="0"/>
              <a:t>cursor</a:t>
            </a:r>
            <a:r>
              <a:rPr lang="ru-RU" dirty="0" smtClean="0"/>
              <a:t>), 16-байтовое </a:t>
            </a:r>
            <a:r>
              <a:rPr lang="ru-RU" dirty="0" err="1" smtClean="0"/>
              <a:t>шестнадцатиричное</a:t>
            </a:r>
            <a:r>
              <a:rPr lang="ru-RU" dirty="0" smtClean="0"/>
              <a:t> число, которое используется для GUID (</a:t>
            </a:r>
            <a:r>
              <a:rPr lang="ru-RU" dirty="0" err="1" smtClean="0"/>
              <a:t>uniqueidentifier</a:t>
            </a:r>
            <a:r>
              <a:rPr lang="ru-RU" dirty="0" smtClean="0"/>
              <a:t>), штамп изменения строки (</a:t>
            </a:r>
            <a:r>
              <a:rPr lang="ru-RU" dirty="0" err="1" smtClean="0"/>
              <a:t>timestamp</a:t>
            </a:r>
            <a:r>
              <a:rPr lang="ru-RU" dirty="0" smtClean="0"/>
              <a:t>), версия строки (</a:t>
            </a:r>
            <a:r>
              <a:rPr lang="ru-RU" dirty="0" err="1" smtClean="0"/>
              <a:t>rowversion</a:t>
            </a:r>
            <a:r>
              <a:rPr lang="ru-RU" dirty="0" smtClean="0"/>
              <a:t>), таблицы (</a:t>
            </a:r>
            <a:r>
              <a:rPr lang="ru-RU" dirty="0" err="1" smtClean="0"/>
              <a:t>table</a:t>
            </a:r>
            <a:r>
              <a:rPr lang="ru-RU" dirty="0" smtClean="0"/>
              <a:t>).</a:t>
            </a:r>
          </a:p>
          <a:p>
            <a:pPr lvl="0"/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4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Общий вид объявления переменной:</a:t>
            </a:r>
          </a:p>
          <a:p>
            <a:r>
              <a:rPr lang="en-US" b="1" dirty="0" smtClean="0"/>
              <a:t>DECLARE</a:t>
            </a:r>
            <a:r>
              <a:rPr lang="ru-RU" dirty="0" smtClean="0"/>
              <a:t> @имя тип [ = значение ] [,..</a:t>
            </a:r>
            <a:r>
              <a:rPr lang="en-US" dirty="0" smtClean="0"/>
              <a:t>n</a:t>
            </a:r>
            <a:r>
              <a:rPr lang="ru-RU" dirty="0" smtClean="0"/>
              <a:t>] </a:t>
            </a:r>
          </a:p>
          <a:p>
            <a:endParaRPr lang="ru-RU" dirty="0" smtClean="0"/>
          </a:p>
          <a:p>
            <a:r>
              <a:rPr lang="ru-RU" dirty="0" smtClean="0"/>
              <a:t>Изменение значения переменной: </a:t>
            </a:r>
          </a:p>
          <a:p>
            <a:endParaRPr lang="ru-RU" dirty="0" smtClean="0"/>
          </a:p>
          <a:p>
            <a:r>
              <a:rPr lang="ru-RU" b="1" dirty="0" smtClean="0"/>
              <a:t>SET</a:t>
            </a:r>
            <a:r>
              <a:rPr lang="ru-RU" dirty="0" smtClean="0"/>
              <a:t> @имя = значение  или  </a:t>
            </a:r>
            <a:r>
              <a:rPr lang="ru-RU" b="1" dirty="0" smtClean="0"/>
              <a:t>SELECT</a:t>
            </a:r>
            <a:r>
              <a:rPr lang="ru-RU" dirty="0" smtClean="0"/>
              <a:t> @имя = значение </a:t>
            </a:r>
          </a:p>
          <a:p>
            <a:endParaRPr lang="ru-RU" dirty="0" smtClean="0"/>
          </a:p>
          <a:p>
            <a:r>
              <a:rPr lang="ru-RU" dirty="0" smtClean="0"/>
              <a:t>Пример использования переменных:</a:t>
            </a:r>
          </a:p>
          <a:p>
            <a:endParaRPr lang="ru-RU" i="1" dirty="0" smtClean="0"/>
          </a:p>
          <a:p>
            <a:r>
              <a:rPr lang="en-US" i="1" dirty="0" smtClean="0"/>
              <a:t>DECLARE</a:t>
            </a:r>
            <a:r>
              <a:rPr lang="ru-RU" i="1" dirty="0" smtClean="0"/>
              <a:t> @</a:t>
            </a:r>
            <a:r>
              <a:rPr lang="en-US" i="1" dirty="0" err="1" smtClean="0"/>
              <a:t>CntEx</a:t>
            </a:r>
            <a:r>
              <a:rPr lang="en-US" i="1" dirty="0" smtClean="0"/>
              <a:t> </a:t>
            </a:r>
            <a:r>
              <a:rPr lang="en-US" i="1" dirty="0" err="1" smtClean="0"/>
              <a:t>int</a:t>
            </a:r>
            <a:r>
              <a:rPr lang="en-US" i="1" dirty="0" smtClean="0"/>
              <a:t>, @group </a:t>
            </a:r>
            <a:r>
              <a:rPr lang="en-US" i="1" dirty="0" err="1" smtClean="0"/>
              <a:t>varchar</a:t>
            </a:r>
            <a:r>
              <a:rPr lang="en-US" i="1" dirty="0" smtClean="0"/>
              <a:t>(10)</a:t>
            </a:r>
            <a:endParaRPr lang="ru-RU" i="1" dirty="0" smtClean="0"/>
          </a:p>
          <a:p>
            <a:endParaRPr lang="ru-RU" i="1" dirty="0" smtClean="0"/>
          </a:p>
          <a:p>
            <a:r>
              <a:rPr lang="en-US" i="1" dirty="0" smtClean="0"/>
              <a:t>SET @group = ‘</a:t>
            </a:r>
            <a:r>
              <a:rPr lang="ru-RU" i="1" dirty="0" smtClean="0"/>
              <a:t>КБ-41СО</a:t>
            </a:r>
            <a:r>
              <a:rPr lang="en-US" i="1" dirty="0" smtClean="0"/>
              <a:t>’</a:t>
            </a:r>
            <a:endParaRPr lang="ru-RU" i="1" dirty="0" smtClean="0"/>
          </a:p>
          <a:p>
            <a:endParaRPr lang="ru-RU" i="1" dirty="0" smtClean="0"/>
          </a:p>
          <a:p>
            <a:r>
              <a:rPr lang="en-US" i="1" dirty="0" smtClean="0"/>
              <a:t>SELECT </a:t>
            </a:r>
            <a:r>
              <a:rPr lang="ru-RU" i="1" dirty="0" smtClean="0"/>
              <a:t>@</a:t>
            </a:r>
            <a:r>
              <a:rPr lang="en-US" i="1" dirty="0" err="1" smtClean="0"/>
              <a:t>CntEx</a:t>
            </a:r>
            <a:r>
              <a:rPr lang="en-US" i="1" dirty="0" smtClean="0"/>
              <a:t> = count(*)</a:t>
            </a:r>
            <a:r>
              <a:rPr lang="ru-RU" i="1" dirty="0" smtClean="0"/>
              <a:t> </a:t>
            </a:r>
            <a:r>
              <a:rPr lang="en-US" i="1" dirty="0" smtClean="0"/>
              <a:t>FROM R3 WHERE [</a:t>
            </a:r>
            <a:r>
              <a:rPr lang="ru-RU" i="1" dirty="0" smtClean="0"/>
              <a:t>Группа</a:t>
            </a:r>
            <a:r>
              <a:rPr lang="en-US" i="1" dirty="0" smtClean="0"/>
              <a:t>]</a:t>
            </a:r>
            <a:r>
              <a:rPr lang="ru-RU" i="1" dirty="0" smtClean="0"/>
              <a:t> </a:t>
            </a:r>
            <a:r>
              <a:rPr lang="en-US" i="1" dirty="0" smtClean="0"/>
              <a:t>like @group </a:t>
            </a:r>
            <a:endParaRPr lang="ru-RU" dirty="0" smtClean="0"/>
          </a:p>
          <a:p>
            <a:endParaRPr lang="ru-RU" i="1" dirty="0" smtClean="0"/>
          </a:p>
          <a:p>
            <a:r>
              <a:rPr lang="en-US" i="1" dirty="0" smtClean="0"/>
              <a:t>SELECT R1.</a:t>
            </a:r>
            <a:r>
              <a:rPr lang="ru-RU" i="1" dirty="0" smtClean="0"/>
              <a:t>ФИО </a:t>
            </a:r>
            <a:r>
              <a:rPr lang="en-US" i="1" dirty="0" smtClean="0"/>
              <a:t> FROM R1 JOIN R2 ON R1.</a:t>
            </a:r>
            <a:r>
              <a:rPr lang="ru-RU" i="1" dirty="0" smtClean="0"/>
              <a:t>ФИО=</a:t>
            </a:r>
            <a:r>
              <a:rPr lang="en-US" i="1" dirty="0" smtClean="0"/>
              <a:t>R2.</a:t>
            </a:r>
            <a:r>
              <a:rPr lang="ru-RU" i="1" dirty="0" smtClean="0"/>
              <a:t>ФИО</a:t>
            </a:r>
          </a:p>
          <a:p>
            <a:r>
              <a:rPr lang="en-US" i="1" dirty="0" smtClean="0"/>
              <a:t>WHERE [</a:t>
            </a:r>
            <a:r>
              <a:rPr lang="ru-RU" i="1" dirty="0" smtClean="0"/>
              <a:t>Группа</a:t>
            </a:r>
            <a:r>
              <a:rPr lang="en-US" i="1" dirty="0" smtClean="0"/>
              <a:t>]</a:t>
            </a:r>
            <a:r>
              <a:rPr lang="ru-RU" i="1" dirty="0" smtClean="0"/>
              <a:t> </a:t>
            </a:r>
            <a:r>
              <a:rPr lang="en-US" i="1" dirty="0" smtClean="0"/>
              <a:t>like @group</a:t>
            </a:r>
            <a:r>
              <a:rPr lang="ru-RU" i="1" dirty="0" smtClean="0"/>
              <a:t> </a:t>
            </a:r>
            <a:r>
              <a:rPr lang="en-US" i="1" dirty="0" smtClean="0"/>
              <a:t>AND </a:t>
            </a:r>
            <a:r>
              <a:rPr lang="ru-RU" i="1" dirty="0" smtClean="0"/>
              <a:t> ОЦЕНКА = 5</a:t>
            </a:r>
          </a:p>
          <a:p>
            <a:r>
              <a:rPr lang="en-US" i="1" dirty="0" smtClean="0"/>
              <a:t>GROUP BY R1.</a:t>
            </a:r>
            <a:r>
              <a:rPr lang="ru-RU" i="1" dirty="0" smtClean="0"/>
              <a:t>ФИО</a:t>
            </a:r>
            <a:endParaRPr lang="en-US" i="1" dirty="0" smtClean="0"/>
          </a:p>
          <a:p>
            <a:r>
              <a:rPr lang="ru-RU" i="1" dirty="0" smtClean="0"/>
              <a:t>НА</a:t>
            </a:r>
            <a:r>
              <a:rPr lang="en-US" i="1" dirty="0" smtClean="0"/>
              <a:t>VING</a:t>
            </a:r>
            <a:r>
              <a:rPr lang="ru-RU" i="1" dirty="0" smtClean="0"/>
              <a:t> </a:t>
            </a:r>
            <a:r>
              <a:rPr lang="en-US" i="1" dirty="0" smtClean="0"/>
              <a:t>count(*)</a:t>
            </a:r>
            <a:r>
              <a:rPr lang="ru-RU" i="1" dirty="0" smtClean="0"/>
              <a:t> = @</a:t>
            </a:r>
            <a:r>
              <a:rPr lang="en-US" i="1" dirty="0" err="1" smtClean="0"/>
              <a:t>CntEx</a:t>
            </a:r>
            <a:r>
              <a:rPr lang="en-US" i="1" dirty="0" smtClean="0"/>
              <a:t> </a:t>
            </a:r>
            <a:endParaRPr lang="ru-RU" i="1" dirty="0" smtClean="0"/>
          </a:p>
          <a:p>
            <a:endParaRPr lang="ru-RU" dirty="0" smtClean="0"/>
          </a:p>
          <a:p>
            <a:pPr lvl="0"/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5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Явное преобразование выполняется с помощью функций CAST и CONVERT.</a:t>
            </a:r>
          </a:p>
          <a:p>
            <a:endParaRPr lang="ru-RU" b="1" dirty="0" smtClean="0"/>
          </a:p>
          <a:p>
            <a:r>
              <a:rPr lang="en-US" b="1" dirty="0" smtClean="0"/>
              <a:t>CAST</a:t>
            </a:r>
            <a:r>
              <a:rPr lang="ru-RU" dirty="0" smtClean="0"/>
              <a:t> ( выражение </a:t>
            </a:r>
            <a:r>
              <a:rPr lang="en-US" dirty="0" smtClean="0"/>
              <a:t>AS</a:t>
            </a:r>
            <a:r>
              <a:rPr lang="ru-RU" dirty="0" smtClean="0"/>
              <a:t>  тип  [ ( длина ) ] )</a:t>
            </a:r>
          </a:p>
          <a:p>
            <a:r>
              <a:rPr lang="en-US" b="1" dirty="0" smtClean="0"/>
              <a:t>CONVERT</a:t>
            </a:r>
            <a:r>
              <a:rPr lang="ru-RU" dirty="0" smtClean="0"/>
              <a:t> ( тип [ ( длина ) ] , выражение [ , стиль ] )</a:t>
            </a:r>
          </a:p>
          <a:p>
            <a:endParaRPr lang="ru-RU" dirty="0" smtClean="0"/>
          </a:p>
          <a:p>
            <a:r>
              <a:rPr lang="ru-RU" dirty="0" smtClean="0"/>
              <a:t>или  с версии </a:t>
            </a:r>
            <a:r>
              <a:rPr lang="en-US" dirty="0" smtClean="0"/>
              <a:t>MS </a:t>
            </a:r>
            <a:r>
              <a:rPr lang="ru-RU" dirty="0" smtClean="0"/>
              <a:t>SQL SERVER 2012 </a:t>
            </a:r>
          </a:p>
          <a:p>
            <a:endParaRPr lang="ru-RU" b="1" dirty="0" smtClean="0"/>
          </a:p>
          <a:p>
            <a:r>
              <a:rPr lang="ru-RU" b="1" dirty="0" smtClean="0"/>
              <a:t>TRY_</a:t>
            </a:r>
            <a:r>
              <a:rPr lang="en-US" b="1" dirty="0" smtClean="0"/>
              <a:t>CAST</a:t>
            </a:r>
            <a:r>
              <a:rPr lang="ru-RU" dirty="0" smtClean="0"/>
              <a:t> ( выражение </a:t>
            </a:r>
            <a:r>
              <a:rPr lang="en-US" dirty="0" smtClean="0"/>
              <a:t>AS</a:t>
            </a:r>
            <a:r>
              <a:rPr lang="ru-RU" dirty="0" smtClean="0"/>
              <a:t>  тип  [ ( длина ) ] )</a:t>
            </a:r>
          </a:p>
          <a:p>
            <a:r>
              <a:rPr lang="en-US" b="1" dirty="0" smtClean="0"/>
              <a:t>TRY</a:t>
            </a:r>
            <a:r>
              <a:rPr lang="ru-RU" b="1" dirty="0" smtClean="0"/>
              <a:t>_</a:t>
            </a:r>
            <a:r>
              <a:rPr lang="en-US" b="1" dirty="0" smtClean="0"/>
              <a:t>CONVERT</a:t>
            </a:r>
            <a:r>
              <a:rPr lang="ru-RU" dirty="0" smtClean="0"/>
              <a:t> ( тип [ ( длина ) ] , выражение [ , стиль ] )</a:t>
            </a:r>
          </a:p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28600" y="3657600"/>
            <a:ext cx="8915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SELECT</a:t>
            </a:r>
            <a:r>
              <a:rPr lang="ru-RU" i="1" dirty="0" smtClean="0"/>
              <a:t> * </a:t>
            </a:r>
            <a:r>
              <a:rPr lang="en-US" i="1" dirty="0" smtClean="0"/>
              <a:t>FROM R</a:t>
            </a:r>
            <a:r>
              <a:rPr lang="ru-RU" i="1" dirty="0" smtClean="0"/>
              <a:t>2 </a:t>
            </a:r>
            <a:endParaRPr lang="ru-RU" dirty="0" smtClean="0"/>
          </a:p>
          <a:p>
            <a:r>
              <a:rPr lang="en-US" i="1" dirty="0" smtClean="0"/>
              <a:t>WHERE CAST(SUBSTRING([</a:t>
            </a:r>
            <a:r>
              <a:rPr lang="ru-RU" i="1" dirty="0" smtClean="0"/>
              <a:t>группа</a:t>
            </a:r>
            <a:r>
              <a:rPr lang="en-US" i="1" dirty="0" smtClean="0"/>
              <a:t>], </a:t>
            </a:r>
            <a:r>
              <a:rPr lang="ru-RU" i="1" dirty="0" smtClean="0"/>
              <a:t>2</a:t>
            </a:r>
            <a:r>
              <a:rPr lang="en-US" i="1" dirty="0" smtClean="0"/>
              <a:t>, </a:t>
            </a:r>
            <a:r>
              <a:rPr lang="ru-RU" i="1" dirty="0" smtClean="0"/>
              <a:t>1</a:t>
            </a:r>
            <a:r>
              <a:rPr lang="en-US" i="1" dirty="0" smtClean="0"/>
              <a:t>) AS INT) </a:t>
            </a:r>
            <a:r>
              <a:rPr lang="ru-RU" i="1" dirty="0" smtClean="0"/>
              <a:t>= 4</a:t>
            </a:r>
            <a:endParaRPr lang="ru-RU" dirty="0" smtClean="0"/>
          </a:p>
          <a:p>
            <a:endParaRPr lang="ru-RU" i="1" dirty="0" smtClean="0"/>
          </a:p>
          <a:p>
            <a:r>
              <a:rPr lang="en-US" i="1" dirty="0" smtClean="0"/>
              <a:t>SELECT * FROM R1 </a:t>
            </a:r>
            <a:endParaRPr lang="ru-RU" dirty="0" smtClean="0"/>
          </a:p>
          <a:p>
            <a:r>
              <a:rPr lang="en-US" i="1" dirty="0" smtClean="0"/>
              <a:t>WHERE CONVERT(INT , SUBSTRING([</a:t>
            </a:r>
            <a:r>
              <a:rPr lang="ru-RU" i="1" dirty="0" smtClean="0"/>
              <a:t>группа</a:t>
            </a:r>
            <a:r>
              <a:rPr lang="en-US" i="1" dirty="0" smtClean="0"/>
              <a:t>], </a:t>
            </a:r>
            <a:r>
              <a:rPr lang="ru-RU" i="1" dirty="0" smtClean="0"/>
              <a:t>2</a:t>
            </a:r>
            <a:r>
              <a:rPr lang="en-US" i="1" dirty="0" smtClean="0"/>
              <a:t>, </a:t>
            </a:r>
            <a:r>
              <a:rPr lang="ru-RU" i="1" dirty="0" smtClean="0"/>
              <a:t>1</a:t>
            </a:r>
            <a:r>
              <a:rPr lang="en-US" i="1" dirty="0" smtClean="0"/>
              <a:t>) ) ) </a:t>
            </a:r>
            <a:r>
              <a:rPr lang="ru-RU" i="1" dirty="0" smtClean="0"/>
              <a:t>=4</a:t>
            </a:r>
            <a:endParaRPr lang="ru-RU" dirty="0" smtClean="0"/>
          </a:p>
          <a:p>
            <a:endParaRPr lang="ru-RU" i="1" dirty="0" smtClean="0"/>
          </a:p>
          <a:p>
            <a:r>
              <a:rPr lang="en-US" i="1" dirty="0" smtClean="0"/>
              <a:t>SELECT C</a:t>
            </a:r>
            <a:r>
              <a:rPr lang="ru-RU" i="1" dirty="0" smtClean="0"/>
              <a:t> </a:t>
            </a:r>
            <a:r>
              <a:rPr lang="en-US" i="1" dirty="0" smtClean="0"/>
              <a:t>ASE WHEN TRY_CAST('</a:t>
            </a:r>
            <a:r>
              <a:rPr lang="ru-RU" i="1" dirty="0" smtClean="0"/>
              <a:t>тест</a:t>
            </a:r>
            <a:r>
              <a:rPr lang="en-US" i="1" dirty="0" smtClean="0"/>
              <a:t>' AS float) IS NULL 	</a:t>
            </a:r>
            <a:endParaRPr lang="ru-RU" i="1" dirty="0" smtClean="0"/>
          </a:p>
          <a:p>
            <a:r>
              <a:rPr lang="en-US" i="1" dirty="0" smtClean="0"/>
              <a:t>	THEN '</a:t>
            </a:r>
            <a:r>
              <a:rPr lang="en-US" i="1" dirty="0" err="1" smtClean="0"/>
              <a:t>Ошибка</a:t>
            </a:r>
            <a:r>
              <a:rPr lang="en-US" i="1" dirty="0" smtClean="0"/>
              <a:t> </a:t>
            </a:r>
            <a:r>
              <a:rPr lang="en-US" i="1" dirty="0" err="1" smtClean="0"/>
              <a:t>преобразования</a:t>
            </a:r>
            <a:r>
              <a:rPr lang="en-US" i="1" dirty="0" smtClean="0"/>
              <a:t>'	ELSE </a:t>
            </a:r>
            <a:r>
              <a:rPr lang="ru-RU" i="1" dirty="0" smtClean="0"/>
              <a:t>  </a:t>
            </a:r>
            <a:r>
              <a:rPr lang="en-US" i="1" dirty="0" smtClean="0"/>
              <a:t>'OK'	</a:t>
            </a:r>
            <a:r>
              <a:rPr lang="ru-RU" i="1" dirty="0" smtClean="0"/>
              <a:t> </a:t>
            </a:r>
            <a:r>
              <a:rPr lang="en-US" i="1" dirty="0" smtClean="0"/>
              <a:t>END </a:t>
            </a:r>
            <a:r>
              <a:rPr lang="ru-RU" i="1" dirty="0" smtClean="0"/>
              <a:t> </a:t>
            </a:r>
            <a:r>
              <a:rPr lang="en-US" i="1" dirty="0" smtClean="0"/>
              <a:t>AS Result</a:t>
            </a:r>
            <a:endParaRPr lang="ru-RU" i="1" dirty="0" smtClean="0"/>
          </a:p>
          <a:p>
            <a:r>
              <a:rPr lang="en-US" i="1" dirty="0" smtClean="0"/>
              <a:t>SELECT </a:t>
            </a:r>
            <a:r>
              <a:rPr lang="ru-RU" i="1" dirty="0" smtClean="0"/>
              <a:t> </a:t>
            </a:r>
            <a:r>
              <a:rPr lang="en-US" i="1" dirty="0" smtClean="0"/>
              <a:t>CASE WHEN TRY_CONVERT(float, '</a:t>
            </a:r>
            <a:r>
              <a:rPr lang="en-US" i="1" dirty="0" err="1" smtClean="0"/>
              <a:t>тест</a:t>
            </a:r>
            <a:r>
              <a:rPr lang="en-US" i="1" dirty="0" smtClean="0"/>
              <a:t>') IS NULL 	</a:t>
            </a:r>
            <a:endParaRPr lang="ru-RU" i="1" dirty="0" smtClean="0"/>
          </a:p>
          <a:p>
            <a:r>
              <a:rPr lang="en-US" i="1" dirty="0" smtClean="0"/>
              <a:t>	THEN '</a:t>
            </a:r>
            <a:r>
              <a:rPr lang="en-US" i="1" dirty="0" err="1" smtClean="0"/>
              <a:t>Ошибка</a:t>
            </a:r>
            <a:r>
              <a:rPr lang="en-US" i="1" dirty="0" smtClean="0"/>
              <a:t> </a:t>
            </a:r>
            <a:r>
              <a:rPr lang="en-US" i="1" dirty="0" err="1" smtClean="0"/>
              <a:t>преобразования</a:t>
            </a:r>
            <a:r>
              <a:rPr lang="en-US" i="1" dirty="0" smtClean="0"/>
              <a:t>'</a:t>
            </a:r>
            <a:r>
              <a:rPr lang="ru-RU" i="1" dirty="0" smtClean="0"/>
              <a:t>    </a:t>
            </a:r>
            <a:r>
              <a:rPr lang="en-US" i="1" dirty="0" smtClean="0"/>
              <a:t>ELSE</a:t>
            </a:r>
            <a:r>
              <a:rPr lang="ru-RU" i="1" dirty="0" smtClean="0"/>
              <a:t> </a:t>
            </a:r>
            <a:r>
              <a:rPr lang="en-US" i="1" dirty="0" smtClean="0"/>
              <a:t> 'OK'	END AS Result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6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381000" y="990600"/>
          <a:ext cx="8077200" cy="5257800"/>
        </p:xfrm>
        <a:graphic>
          <a:graphicData uri="http://schemas.openxmlformats.org/drawingml/2006/table">
            <a:tbl>
              <a:tblPr/>
              <a:tblGrid>
                <a:gridCol w="19907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864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05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Calibri"/>
                          <a:cs typeface="Times New Roman"/>
                        </a:rPr>
                        <a:t>Оператор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>
                          <a:latin typeface="Times New Roman"/>
                          <a:ea typeface="Calibri"/>
                          <a:cs typeface="Times New Roman"/>
                        </a:rPr>
                        <a:t>Описание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821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BEGIN...END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Calibri"/>
                          <a:cs typeface="Times New Roman"/>
                        </a:rPr>
                        <a:t>Определяет блок.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BEGIN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{оператор_SQL | блок _операторов}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END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526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IF...ELSE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Calibri"/>
                          <a:cs typeface="Times New Roman"/>
                        </a:rPr>
                        <a:t>Условный оператор.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IF логическое_выражение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{оператор_SQL | блок _операторов}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[ELSE [логическое_выражение]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{оператор_SQL | блок _операторов}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21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RETURN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Calibri"/>
                          <a:cs typeface="Times New Roman"/>
                        </a:rPr>
                        <a:t>Безусловный выход</a:t>
                      </a:r>
                      <a:r>
                        <a:rPr lang="en-US" sz="2000" dirty="0">
                          <a:latin typeface="Times New Roman"/>
                          <a:ea typeface="Calibri"/>
                          <a:cs typeface="Times New Roman"/>
                        </a:rPr>
                        <a:t>.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latin typeface="Times New Roman"/>
                          <a:ea typeface="Calibri"/>
                          <a:cs typeface="Times New Roman"/>
                        </a:rPr>
                        <a:t>RETURN ([</a:t>
                      </a:r>
                      <a:r>
                        <a:rPr lang="en-US" sz="2000" b="1" dirty="0" err="1">
                          <a:latin typeface="Times New Roman"/>
                          <a:ea typeface="Calibri"/>
                          <a:cs typeface="Times New Roman"/>
                        </a:rPr>
                        <a:t>integer_expression</a:t>
                      </a:r>
                      <a:r>
                        <a:rPr lang="en-US" sz="2000" b="1" i="1" dirty="0">
                          <a:latin typeface="Times New Roman"/>
                          <a:ea typeface="Calibri"/>
                          <a:cs typeface="Times New Roman"/>
                        </a:rPr>
                        <a:t>])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Calibri"/>
                          <a:cs typeface="Times New Roman"/>
                        </a:rPr>
                        <a:t>Возвращаемое значение – это код возврата, причем часть значений(-14 . . 0) зарезервирована под специальные состояния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7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381000" y="990600"/>
          <a:ext cx="8077200" cy="5730240"/>
        </p:xfrm>
        <a:graphic>
          <a:graphicData uri="http://schemas.openxmlformats.org/drawingml/2006/table">
            <a:tbl>
              <a:tblPr/>
              <a:tblGrid>
                <a:gridCol w="19907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60864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05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Calibri"/>
                          <a:cs typeface="Times New Roman"/>
                        </a:rPr>
                        <a:t>Оператор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>
                          <a:latin typeface="Times New Roman"/>
                          <a:ea typeface="Calibri"/>
                          <a:cs typeface="Times New Roman"/>
                        </a:rPr>
                        <a:t>Описание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16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 dirty="0">
                          <a:latin typeface="Times New Roman"/>
                          <a:ea typeface="Calibri"/>
                          <a:cs typeface="Times New Roman"/>
                        </a:rPr>
                        <a:t>WHILE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Calibri"/>
                          <a:cs typeface="Times New Roman"/>
                        </a:rPr>
                        <a:t>Цикл с предусловием.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WHILE логическое_выражение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{оператор_SQL | блок _операторов}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05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>
                          <a:latin typeface="Times New Roman"/>
                          <a:ea typeface="Calibri"/>
                          <a:cs typeface="Times New Roman"/>
                        </a:rPr>
                        <a:t>BREAK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Calibri"/>
                          <a:cs typeface="Times New Roman"/>
                        </a:rPr>
                        <a:t>Выход из цикла </a:t>
                      </a:r>
                      <a:r>
                        <a:rPr lang="en-US" sz="2000" b="1" i="1">
                          <a:latin typeface="Times New Roman"/>
                          <a:ea typeface="Calibri"/>
                          <a:cs typeface="Times New Roman"/>
                        </a:rPr>
                        <a:t>WHILE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05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CONTINUE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>
                          <a:latin typeface="Times New Roman"/>
                          <a:ea typeface="Calibri"/>
                          <a:cs typeface="Times New Roman"/>
                        </a:rPr>
                        <a:t>Продолжение цикла </a:t>
                      </a: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WHILE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215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PRINT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Calibri"/>
                          <a:cs typeface="Times New Roman"/>
                        </a:rPr>
                        <a:t>Выдает заданное значение на экран.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 dirty="0">
                          <a:latin typeface="Times New Roman"/>
                          <a:ea typeface="Calibri"/>
                          <a:cs typeface="Times New Roman"/>
                        </a:rPr>
                        <a:t>PRINT переменная | строка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Calibri"/>
                          <a:cs typeface="Times New Roman"/>
                        </a:rPr>
                        <a:t>Длина строки с сообщением не должна превышать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Times New Roman"/>
                          <a:ea typeface="Calibri"/>
                          <a:cs typeface="Times New Roman"/>
                        </a:rPr>
                        <a:t>255 символов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0687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CASE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2000" dirty="0">
                          <a:latin typeface="Calibri"/>
                          <a:ea typeface="Times New Roman"/>
                        </a:rPr>
                        <a:t>Простое выражение CASE для определения результата сравнивает выражение с набором простых выражений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latin typeface="Calibri"/>
                          <a:ea typeface="Times New Roman"/>
                        </a:rPr>
                        <a:t>CASE </a:t>
                      </a:r>
                      <a:r>
                        <a:rPr lang="ru-RU" sz="2000" b="1" i="1" dirty="0">
                          <a:latin typeface="Calibri"/>
                          <a:ea typeface="Times New Roman"/>
                        </a:rPr>
                        <a:t>выражение</a:t>
                      </a:r>
                      <a:endParaRPr lang="ru-RU" sz="2000" dirty="0">
                        <a:latin typeface="Calibri"/>
                        <a:ea typeface="Times New Roman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latin typeface="Calibri"/>
                          <a:ea typeface="Times New Roman"/>
                        </a:rPr>
                        <a:t>WHEN </a:t>
                      </a:r>
                      <a:r>
                        <a:rPr lang="ru-RU" sz="2000" b="1" i="1" dirty="0">
                          <a:latin typeface="Calibri"/>
                          <a:ea typeface="Times New Roman"/>
                        </a:rPr>
                        <a:t>выражение1 </a:t>
                      </a:r>
                      <a:r>
                        <a:rPr lang="en-US" sz="2000" b="1" i="1" dirty="0">
                          <a:latin typeface="Calibri"/>
                          <a:ea typeface="Times New Roman"/>
                        </a:rPr>
                        <a:t>THEN </a:t>
                      </a:r>
                      <a:r>
                        <a:rPr lang="ru-RU" sz="2000" b="1" i="1" dirty="0">
                          <a:latin typeface="Calibri"/>
                          <a:ea typeface="Times New Roman"/>
                        </a:rPr>
                        <a:t>результат1</a:t>
                      </a:r>
                      <a:endParaRPr lang="ru-RU" sz="2000" dirty="0">
                        <a:latin typeface="Calibri"/>
                        <a:ea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 dirty="0">
                          <a:latin typeface="Times New Roman"/>
                          <a:ea typeface="Calibri"/>
                          <a:cs typeface="Times New Roman"/>
                        </a:rPr>
                        <a:t>[[</a:t>
                      </a:r>
                      <a:r>
                        <a:rPr lang="en-US" sz="2000" b="1" i="1" dirty="0">
                          <a:latin typeface="Times New Roman"/>
                          <a:ea typeface="Calibri"/>
                          <a:cs typeface="Times New Roman"/>
                        </a:rPr>
                        <a:t>WHEN </a:t>
                      </a:r>
                      <a:r>
                        <a:rPr lang="ru-RU" sz="2000" b="1" i="1" dirty="0">
                          <a:latin typeface="Calibri"/>
                          <a:ea typeface="Calibri"/>
                          <a:cs typeface="Times New Roman"/>
                        </a:rPr>
                        <a:t>выражение</a:t>
                      </a:r>
                      <a:r>
                        <a:rPr lang="ru-RU" sz="2000" b="1" i="1" dirty="0">
                          <a:latin typeface="Times New Roman"/>
                          <a:ea typeface="Calibri"/>
                          <a:cs typeface="Times New Roman"/>
                        </a:rPr>
                        <a:t> 2 </a:t>
                      </a:r>
                      <a:r>
                        <a:rPr lang="en-US" sz="2000" b="1" i="1" dirty="0">
                          <a:latin typeface="Times New Roman"/>
                          <a:ea typeface="Calibri"/>
                          <a:cs typeface="Times New Roman"/>
                        </a:rPr>
                        <a:t>THEN </a:t>
                      </a:r>
                      <a:r>
                        <a:rPr lang="ru-RU" sz="2000" b="1" i="1" dirty="0">
                          <a:latin typeface="Calibri"/>
                          <a:ea typeface="Calibri"/>
                          <a:cs typeface="Times New Roman"/>
                        </a:rPr>
                        <a:t>результат</a:t>
                      </a:r>
                      <a:r>
                        <a:rPr lang="ru-RU" sz="2000" b="1" i="1" dirty="0">
                          <a:latin typeface="Times New Roman"/>
                          <a:ea typeface="Calibri"/>
                          <a:cs typeface="Times New Roman"/>
                        </a:rPr>
                        <a:t>2[..</a:t>
                      </a:r>
                      <a:r>
                        <a:rPr lang="en-US" sz="2000" b="1" i="1" dirty="0">
                          <a:latin typeface="Times New Roman"/>
                          <a:ea typeface="Calibri"/>
                          <a:cs typeface="Times New Roman"/>
                        </a:rPr>
                        <a:t>n</a:t>
                      </a:r>
                      <a:r>
                        <a:rPr lang="ru-RU" sz="2000" b="1" i="1" dirty="0">
                          <a:latin typeface="Times New Roman"/>
                          <a:ea typeface="Calibri"/>
                          <a:cs typeface="Times New Roman"/>
                        </a:rPr>
                        <a:t>]]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000" b="1" i="1" dirty="0">
                          <a:latin typeface="Times New Roman"/>
                          <a:ea typeface="Calibri"/>
                          <a:cs typeface="Times New Roman"/>
                        </a:rPr>
                        <a:t>[ELSE </a:t>
                      </a:r>
                      <a:r>
                        <a:rPr lang="ru-RU" sz="2000" b="1" i="1" dirty="0">
                          <a:latin typeface="Calibri"/>
                          <a:ea typeface="Calibri"/>
                          <a:cs typeface="Times New Roman"/>
                        </a:rPr>
                        <a:t>результат</a:t>
                      </a:r>
                      <a:r>
                        <a:rPr lang="en-US" sz="2000" b="1" i="1" dirty="0">
                          <a:latin typeface="Times New Roman"/>
                          <a:ea typeface="Calibri"/>
                          <a:cs typeface="Times New Roman"/>
                        </a:rPr>
                        <a:t>N]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r>
                        <a:rPr lang="ru-RU" sz="2000" b="1" i="1" dirty="0">
                          <a:latin typeface="Times New Roman"/>
                        </a:rPr>
                        <a:t>END</a:t>
                      </a:r>
                      <a:endParaRPr lang="ru-RU" sz="2000" dirty="0">
                        <a:latin typeface="Calibri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8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381000" y="838200"/>
          <a:ext cx="7924800" cy="5315712"/>
        </p:xfrm>
        <a:graphic>
          <a:graphicData uri="http://schemas.openxmlformats.org/drawingml/2006/table">
            <a:tbl>
              <a:tblPr/>
              <a:tblGrid>
                <a:gridCol w="19907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340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05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Calibri"/>
                          <a:cs typeface="Times New Roman"/>
                        </a:rPr>
                        <a:t>Оператор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>
                          <a:latin typeface="Times New Roman"/>
                          <a:ea typeface="Calibri"/>
                          <a:cs typeface="Times New Roman"/>
                        </a:rPr>
                        <a:t>Описание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549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 dirty="0">
                          <a:latin typeface="Times New Roman"/>
                          <a:ea typeface="Calibri"/>
                          <a:cs typeface="Times New Roman"/>
                        </a:rPr>
                        <a:t>CASE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Calibri"/>
                          <a:ea typeface="Times New Roman"/>
                        </a:rPr>
                        <a:t>Поисковое выражение CASE для определения результата вычисляет набор логических выражений.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CASE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indent="291465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WHEN </a:t>
                      </a:r>
                      <a:r>
                        <a:rPr lang="ru-RU" sz="1800" b="1" i="1" dirty="0" err="1">
                          <a:latin typeface="Times New Roman"/>
                          <a:ea typeface="Calibri"/>
                          <a:cs typeface="Times New Roman"/>
                        </a:rPr>
                        <a:t>логическое_выражение</a:t>
                      </a:r>
                      <a:r>
                        <a:rPr lang="ru-RU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 </a:t>
                      </a:r>
                      <a:r>
                        <a:rPr lang="en-US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THEN </a:t>
                      </a:r>
                      <a:r>
                        <a:rPr lang="ru-RU" sz="1800" b="1" i="1" dirty="0" err="1">
                          <a:latin typeface="Times New Roman"/>
                          <a:ea typeface="Times New Roman"/>
                          <a:cs typeface="Times New Roman"/>
                        </a:rPr>
                        <a:t>результирующее_</a:t>
                      </a:r>
                      <a:r>
                        <a:rPr lang="ru-RU" sz="1800" b="1" i="1" dirty="0">
                          <a:latin typeface="Times New Roman"/>
                          <a:ea typeface="Calibri"/>
                          <a:cs typeface="Times New Roman"/>
                        </a:rPr>
                        <a:t> выражение</a:t>
                      </a:r>
                      <a:r>
                        <a:rPr lang="ru-RU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 [ ...</a:t>
                      </a:r>
                      <a:r>
                        <a:rPr lang="en-US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n</a:t>
                      </a:r>
                      <a:r>
                        <a:rPr lang="ru-RU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 ] 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indent="291465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ru-RU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[ </a:t>
                      </a:r>
                      <a:r>
                        <a:rPr lang="en-US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ELSE </a:t>
                      </a:r>
                      <a:r>
                        <a:rPr lang="en-US" sz="1800" b="1" i="1" dirty="0" err="1">
                          <a:latin typeface="Times New Roman"/>
                          <a:ea typeface="Times New Roman"/>
                          <a:cs typeface="Times New Roman"/>
                        </a:rPr>
                        <a:t>else</a:t>
                      </a:r>
                      <a:r>
                        <a:rPr lang="ru-RU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_ </a:t>
                      </a:r>
                      <a:r>
                        <a:rPr lang="ru-RU" sz="1800" b="1" i="1" dirty="0" err="1">
                          <a:latin typeface="Times New Roman"/>
                          <a:ea typeface="Times New Roman"/>
                          <a:cs typeface="Times New Roman"/>
                        </a:rPr>
                        <a:t>результирующее_</a:t>
                      </a:r>
                      <a:r>
                        <a:rPr lang="ru-RU" sz="1800" b="1" i="1" dirty="0">
                          <a:latin typeface="Times New Roman"/>
                          <a:ea typeface="Calibri"/>
                          <a:cs typeface="Times New Roman"/>
                        </a:rPr>
                        <a:t> выражение</a:t>
                      </a:r>
                      <a:r>
                        <a:rPr lang="ru-RU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] 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581660" algn="l"/>
                          <a:tab pos="1163320" algn="l"/>
                          <a:tab pos="1744980" algn="l"/>
                          <a:tab pos="2326640" algn="l"/>
                          <a:tab pos="2908300" algn="l"/>
                          <a:tab pos="3489960" algn="l"/>
                          <a:tab pos="4071620" algn="l"/>
                          <a:tab pos="4653280" algn="l"/>
                          <a:tab pos="5234940" algn="l"/>
                          <a:tab pos="5816600" algn="l"/>
                          <a:tab pos="6398260" algn="l"/>
                          <a:tab pos="6979920" algn="l"/>
                          <a:tab pos="7561580" algn="l"/>
                          <a:tab pos="8143240" algn="l"/>
                          <a:tab pos="8724900" algn="l"/>
                          <a:tab pos="9306560" algn="l"/>
                        </a:tabLst>
                      </a:pPr>
                      <a:r>
                        <a:rPr lang="en-US" sz="1800" b="1" i="1" dirty="0">
                          <a:latin typeface="Times New Roman"/>
                          <a:ea typeface="Times New Roman"/>
                          <a:cs typeface="Times New Roman"/>
                        </a:rPr>
                        <a:t>END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6348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TRY...CATCH 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latin typeface="Times New Roman"/>
                          <a:ea typeface="Calibri"/>
                          <a:cs typeface="Times New Roman"/>
                        </a:rPr>
                        <a:t>Реализация обработчика ошибок. Перехватывает все ошибки исполнения с кодом серьезности, большим 10, которые не закрывают подключение к базе данных.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latin typeface="Times New Roman"/>
                          <a:ea typeface="Calibri"/>
                          <a:cs typeface="Times New Roman"/>
                        </a:rPr>
                        <a:t>BEGIN TRY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indent="20129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i="1" dirty="0">
                          <a:latin typeface="Times New Roman"/>
                          <a:ea typeface="Calibri"/>
                          <a:cs typeface="Times New Roman"/>
                        </a:rPr>
                        <a:t>{ </a:t>
                      </a:r>
                      <a:r>
                        <a:rPr lang="ru-RU" sz="1800" b="1" i="1" dirty="0" err="1">
                          <a:latin typeface="Times New Roman"/>
                          <a:ea typeface="Calibri"/>
                          <a:cs typeface="Times New Roman"/>
                        </a:rPr>
                        <a:t>оператор_SQL</a:t>
                      </a:r>
                      <a:r>
                        <a:rPr lang="ru-RU" sz="1800" b="1" i="1" dirty="0">
                          <a:latin typeface="Times New Roman"/>
                          <a:ea typeface="Calibri"/>
                          <a:cs typeface="Times New Roman"/>
                        </a:rPr>
                        <a:t> | блок </a:t>
                      </a:r>
                      <a:r>
                        <a:rPr lang="ru-RU" sz="1800" b="1" i="1" dirty="0" err="1">
                          <a:latin typeface="Times New Roman"/>
                          <a:ea typeface="Calibri"/>
                          <a:cs typeface="Times New Roman"/>
                        </a:rPr>
                        <a:t>_операторов</a:t>
                      </a:r>
                      <a:r>
                        <a:rPr lang="ru-RU" sz="1800" b="1" i="1" dirty="0">
                          <a:latin typeface="Times New Roman"/>
                          <a:ea typeface="Calibri"/>
                          <a:cs typeface="Times New Roman"/>
                        </a:rPr>
                        <a:t> }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latin typeface="Times New Roman"/>
                          <a:ea typeface="Calibri"/>
                          <a:cs typeface="Times New Roman"/>
                        </a:rPr>
                        <a:t>END TRY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800" b="1" i="1" dirty="0">
                          <a:latin typeface="Times New Roman"/>
                          <a:ea typeface="Calibri"/>
                          <a:cs typeface="Times New Roman"/>
                        </a:rPr>
                        <a:t>BEGIN CATCH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indent="20129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i="1" dirty="0">
                          <a:latin typeface="Times New Roman"/>
                          <a:ea typeface="Calibri"/>
                          <a:cs typeface="Times New Roman"/>
                        </a:rPr>
                        <a:t>[ { </a:t>
                      </a:r>
                      <a:r>
                        <a:rPr lang="ru-RU" sz="1800" b="1" i="1" dirty="0" err="1">
                          <a:latin typeface="Times New Roman"/>
                          <a:ea typeface="Calibri"/>
                          <a:cs typeface="Times New Roman"/>
                        </a:rPr>
                        <a:t>оператор_SQL</a:t>
                      </a:r>
                      <a:r>
                        <a:rPr lang="ru-RU" sz="1800" b="1" i="1" dirty="0">
                          <a:latin typeface="Times New Roman"/>
                          <a:ea typeface="Calibri"/>
                          <a:cs typeface="Times New Roman"/>
                        </a:rPr>
                        <a:t> | блок </a:t>
                      </a:r>
                      <a:r>
                        <a:rPr lang="ru-RU" sz="1800" b="1" i="1" dirty="0" err="1">
                          <a:latin typeface="Times New Roman"/>
                          <a:ea typeface="Calibri"/>
                          <a:cs typeface="Times New Roman"/>
                        </a:rPr>
                        <a:t>_операторов</a:t>
                      </a:r>
                      <a:r>
                        <a:rPr lang="ru-RU" sz="1800" b="1" i="1" dirty="0">
                          <a:latin typeface="Times New Roman"/>
                          <a:ea typeface="Calibri"/>
                          <a:cs typeface="Times New Roman"/>
                        </a:rPr>
                        <a:t> } ]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b="1" i="1" dirty="0">
                          <a:latin typeface="Times New Roman"/>
                          <a:ea typeface="Calibri"/>
                          <a:cs typeface="Times New Roman"/>
                        </a:rPr>
                        <a:t>END CATCH</a:t>
                      </a:r>
                      <a:endParaRPr lang="ru-RU" sz="18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9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/>
        </p:nvGraphicFramePr>
        <p:xfrm>
          <a:off x="381000" y="838200"/>
          <a:ext cx="7924800" cy="5748528"/>
        </p:xfrm>
        <a:graphic>
          <a:graphicData uri="http://schemas.openxmlformats.org/drawingml/2006/table">
            <a:tbl>
              <a:tblPr/>
              <a:tblGrid>
                <a:gridCol w="199070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93409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705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dirty="0">
                          <a:latin typeface="Times New Roman"/>
                          <a:ea typeface="Calibri"/>
                          <a:cs typeface="Times New Roman"/>
                        </a:rPr>
                        <a:t>Оператор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>
                          <a:latin typeface="Times New Roman"/>
                          <a:ea typeface="Calibri"/>
                          <a:cs typeface="Times New Roman"/>
                        </a:rPr>
                        <a:t>Описание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3402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 dirty="0">
                          <a:latin typeface="Times New Roman"/>
                          <a:ea typeface="Calibri"/>
                          <a:cs typeface="Times New Roman"/>
                        </a:rPr>
                        <a:t>RAISERROR</a:t>
                      </a:r>
                      <a:endParaRPr lang="ru-RU" sz="2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Calibri"/>
                          <a:cs typeface="Times New Roman"/>
                        </a:rPr>
                        <a:t>Создает сообщение об ошибке и запускает обработку ошибок для сеанса. 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latin typeface="Times New Roman"/>
                          <a:ea typeface="Calibri"/>
                          <a:cs typeface="Times New Roman"/>
                        </a:rPr>
                        <a:t>RAISERROR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( { </a:t>
                      </a: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номер_сообщения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| </a:t>
                      </a: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строка_сообщения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| @переменная } { ,</a:t>
                      </a: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степень_серьезности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,состояние }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[ ,</a:t>
                      </a: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аргументы_подстановки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[ ,...</a:t>
                      </a: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n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] ] )   [ WITH </a:t>
                      </a: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option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[ ,...</a:t>
                      </a: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n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] ]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номер_сообщения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- </a:t>
                      </a:r>
                      <a:r>
                        <a:rPr lang="ru-RU" sz="1400" dirty="0">
                          <a:latin typeface="Times New Roman"/>
                          <a:ea typeface="Calibri"/>
                          <a:cs typeface="Times New Roman"/>
                        </a:rPr>
                        <a:t>Определяемый пользователем номер сообщения об ошибке, который хранится в представлении каталога </a:t>
                      </a:r>
                      <a:r>
                        <a:rPr lang="ru-RU" sz="1400" dirty="0" err="1">
                          <a:latin typeface="Times New Roman"/>
                          <a:ea typeface="Calibri"/>
                          <a:cs typeface="Times New Roman"/>
                        </a:rPr>
                        <a:t>sys.messages</a:t>
                      </a:r>
                      <a:r>
                        <a:rPr lang="ru-RU" sz="1400" dirty="0">
                          <a:latin typeface="Times New Roman"/>
                          <a:ea typeface="Calibri"/>
                          <a:cs typeface="Times New Roman"/>
                        </a:rPr>
                        <a:t> с помощью </a:t>
                      </a:r>
                      <a:r>
                        <a:rPr lang="ru-RU" sz="1400" dirty="0" err="1">
                          <a:latin typeface="Times New Roman"/>
                          <a:ea typeface="Calibri"/>
                          <a:cs typeface="Times New Roman"/>
                        </a:rPr>
                        <a:t>sp_addmessage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строка_сообщения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- </a:t>
                      </a:r>
                      <a:r>
                        <a:rPr lang="ru-RU" sz="1400" dirty="0">
                          <a:latin typeface="Times New Roman"/>
                          <a:ea typeface="Calibri"/>
                          <a:cs typeface="Times New Roman"/>
                        </a:rPr>
                        <a:t>Определенное пользователем сообщение с форматом, аналогичным формату функции </a:t>
                      </a:r>
                      <a:r>
                        <a:rPr lang="ru-RU" sz="1400" dirty="0" err="1">
                          <a:latin typeface="Times New Roman"/>
                          <a:ea typeface="Calibri"/>
                          <a:cs typeface="Times New Roman"/>
                        </a:rPr>
                        <a:t>printf</a:t>
                      </a:r>
                      <a:r>
                        <a:rPr lang="ru-RU" sz="1400" dirty="0">
                          <a:latin typeface="Times New Roman"/>
                          <a:ea typeface="Calibri"/>
                          <a:cs typeface="Times New Roman"/>
                        </a:rPr>
                        <a:t> из стандартной библиотеки языка С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степень_серьезности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- </a:t>
                      </a:r>
                      <a:r>
                        <a:rPr lang="ru-RU" sz="1400" dirty="0">
                          <a:latin typeface="Times New Roman"/>
                          <a:ea typeface="Calibri"/>
                          <a:cs typeface="Times New Roman"/>
                        </a:rPr>
                        <a:t>Степень серьезности от 0 до 18 может указать любой пользователь. Степени серьезности от 19 до 25 могут быть указаны только членами предопределенной роли сервера </a:t>
                      </a:r>
                      <a:r>
                        <a:rPr lang="ru-RU" sz="1400" dirty="0" err="1">
                          <a:latin typeface="Times New Roman"/>
                          <a:ea typeface="Calibri"/>
                          <a:cs typeface="Times New Roman"/>
                        </a:rPr>
                        <a:t>sysadmin</a:t>
                      </a:r>
                      <a:r>
                        <a:rPr lang="ru-RU" sz="1400" dirty="0">
                          <a:latin typeface="Times New Roman"/>
                          <a:ea typeface="Calibri"/>
                          <a:cs typeface="Times New Roman"/>
                        </a:rPr>
                        <a:t> и пользователями с разрешениями ALTER TRACE. Для степеней серьезности от 19 до 25 требуется параметр WITH LOG.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Состояние - </a:t>
                      </a:r>
                      <a:r>
                        <a:rPr lang="ru-RU" sz="1400" dirty="0">
                          <a:latin typeface="Times New Roman"/>
                          <a:ea typeface="Calibri"/>
                          <a:cs typeface="Times New Roman"/>
                        </a:rPr>
                        <a:t>Целое число от 0 до 255. Отрицательные значения или значения больше 255 вызывают ошибку.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937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000" b="1" i="1">
                          <a:latin typeface="Times New Roman"/>
                          <a:ea typeface="Calibri"/>
                          <a:cs typeface="Times New Roman"/>
                        </a:rPr>
                        <a:t>WAITFOR</a:t>
                      </a:r>
                      <a:endParaRPr lang="ru-RU" sz="2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latin typeface="Times New Roman"/>
                          <a:ea typeface="Calibri"/>
                          <a:cs typeface="Times New Roman"/>
                        </a:rPr>
                        <a:t>Блокирует выполнение пакета, хранимой процедуры или транзакции до наступления указанного времени или интервала времени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WAITFOR {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indent="2914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latin typeface="Times New Roman"/>
                          <a:ea typeface="Calibri"/>
                          <a:cs typeface="Times New Roman"/>
                        </a:rPr>
                        <a:t>DELAY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время_ожидания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indent="291465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400" b="1" i="1" dirty="0">
                          <a:latin typeface="Times New Roman"/>
                          <a:ea typeface="Calibri"/>
                          <a:cs typeface="Times New Roman"/>
                        </a:rPr>
                        <a:t>TIME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r>
                        <a:rPr lang="ru-RU" sz="1400" b="1" i="1" dirty="0" err="1">
                          <a:latin typeface="Times New Roman"/>
                          <a:ea typeface="Calibri"/>
                          <a:cs typeface="Times New Roman"/>
                        </a:rPr>
                        <a:t>время_завершения</a:t>
                      </a: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 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400" b="1" i="1" dirty="0">
                          <a:latin typeface="Times New Roman"/>
                          <a:ea typeface="Calibri"/>
                          <a:cs typeface="Times New Roman"/>
                        </a:rPr>
                        <a:t>}</a:t>
                      </a:r>
                      <a:endParaRPr lang="ru-RU" sz="1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8873" marR="1887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10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762000" y="1219200"/>
            <a:ext cx="82296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DECLARE @</a:t>
            </a:r>
            <a:r>
              <a:rPr lang="en-US" i="1" dirty="0" err="1" smtClean="0"/>
              <a:t>cnt</a:t>
            </a:r>
            <a:r>
              <a:rPr lang="en-US" i="1" dirty="0" smtClean="0"/>
              <a:t>  </a:t>
            </a:r>
            <a:r>
              <a:rPr lang="en-US" i="1" dirty="0" err="1" smtClean="0"/>
              <a:t>int</a:t>
            </a:r>
            <a:endParaRPr lang="en-US" i="1" dirty="0" smtClean="0"/>
          </a:p>
          <a:p>
            <a:endParaRPr lang="en-US" i="1" dirty="0" smtClean="0"/>
          </a:p>
          <a:p>
            <a:r>
              <a:rPr lang="en-US" i="1" dirty="0" smtClean="0"/>
              <a:t>SELECT @</a:t>
            </a:r>
            <a:r>
              <a:rPr lang="en-US" i="1" dirty="0" err="1" smtClean="0"/>
              <a:t>cnt</a:t>
            </a:r>
            <a:r>
              <a:rPr lang="en-US" i="1" dirty="0" smtClean="0"/>
              <a:t> =COUNT(*)  FROM  R1</a:t>
            </a:r>
            <a:r>
              <a:rPr lang="ru-RU" i="1" dirty="0" smtClean="0"/>
              <a:t> </a:t>
            </a:r>
            <a:r>
              <a:rPr lang="en-US" i="1" dirty="0" smtClean="0"/>
              <a:t>WHERE </a:t>
            </a:r>
            <a:r>
              <a:rPr lang="ru-RU" i="1" dirty="0" smtClean="0"/>
              <a:t>дисциплина = </a:t>
            </a:r>
            <a:r>
              <a:rPr lang="en-US" i="1" dirty="0" smtClean="0"/>
              <a:t>‘</a:t>
            </a:r>
            <a:r>
              <a:rPr lang="ru-RU" i="1" dirty="0" smtClean="0"/>
              <a:t>БД</a:t>
            </a:r>
            <a:r>
              <a:rPr lang="en-US" i="1" dirty="0" smtClean="0"/>
              <a:t>’</a:t>
            </a:r>
          </a:p>
          <a:p>
            <a:endParaRPr lang="en-US" i="1" dirty="0" smtClean="0"/>
          </a:p>
          <a:p>
            <a:r>
              <a:rPr lang="en-US" i="1" dirty="0" smtClean="0"/>
              <a:t>WHILE (SELECT AVG(</a:t>
            </a:r>
            <a:r>
              <a:rPr lang="ru-RU" i="1" dirty="0" smtClean="0"/>
              <a:t>оценка</a:t>
            </a:r>
            <a:r>
              <a:rPr lang="en-US" i="1" dirty="0" smtClean="0"/>
              <a:t>) FROM  R1</a:t>
            </a:r>
            <a:r>
              <a:rPr lang="ru-RU" i="1" dirty="0" smtClean="0"/>
              <a:t> </a:t>
            </a:r>
            <a:r>
              <a:rPr lang="en-US" i="1" dirty="0" smtClean="0"/>
              <a:t>WHERE </a:t>
            </a:r>
            <a:r>
              <a:rPr lang="ru-RU" i="1" dirty="0" smtClean="0"/>
              <a:t>дисциплина = </a:t>
            </a:r>
            <a:r>
              <a:rPr lang="en-US" i="1" dirty="0" smtClean="0"/>
              <a:t>‘</a:t>
            </a:r>
            <a:r>
              <a:rPr lang="ru-RU" i="1" dirty="0" smtClean="0"/>
              <a:t>БД</a:t>
            </a:r>
            <a:r>
              <a:rPr lang="en-US" i="1" dirty="0" smtClean="0"/>
              <a:t>’)  &lt; 4.5</a:t>
            </a:r>
            <a:endParaRPr lang="ru-RU" i="1" dirty="0" smtClean="0"/>
          </a:p>
          <a:p>
            <a:r>
              <a:rPr lang="en-US" i="1" dirty="0" smtClean="0"/>
              <a:t>BEGIN	</a:t>
            </a:r>
            <a:endParaRPr lang="ru-RU" i="1" dirty="0" smtClean="0"/>
          </a:p>
          <a:p>
            <a:r>
              <a:rPr lang="ru-RU" i="1" dirty="0" smtClean="0"/>
              <a:t>	</a:t>
            </a:r>
            <a:r>
              <a:rPr lang="en-US" i="1" dirty="0" smtClean="0"/>
              <a:t>IF  (SELECT COUNT(*)  </a:t>
            </a:r>
          </a:p>
          <a:p>
            <a:r>
              <a:rPr lang="en-US" i="1" dirty="0" smtClean="0"/>
              <a:t>		FROM  R1</a:t>
            </a:r>
            <a:r>
              <a:rPr lang="ru-RU" i="1" dirty="0" smtClean="0"/>
              <a:t> </a:t>
            </a:r>
            <a:r>
              <a:rPr lang="en-US" i="1" dirty="0" smtClean="0"/>
              <a:t>WHERE </a:t>
            </a:r>
            <a:r>
              <a:rPr lang="ru-RU" i="1" dirty="0" smtClean="0"/>
              <a:t>дисциплина = </a:t>
            </a:r>
            <a:r>
              <a:rPr lang="en-US" i="1" dirty="0" smtClean="0"/>
              <a:t>‘</a:t>
            </a:r>
            <a:r>
              <a:rPr lang="ru-RU" i="1" dirty="0" smtClean="0"/>
              <a:t>БД</a:t>
            </a:r>
            <a:r>
              <a:rPr lang="en-US" i="1" dirty="0" smtClean="0"/>
              <a:t>’ AND  </a:t>
            </a:r>
            <a:r>
              <a:rPr lang="ru-RU" i="1" dirty="0" smtClean="0"/>
              <a:t>оценка</a:t>
            </a:r>
            <a:r>
              <a:rPr lang="en-US" i="1" dirty="0" smtClean="0"/>
              <a:t> = 5) &gt; @</a:t>
            </a:r>
            <a:r>
              <a:rPr lang="en-US" i="1" dirty="0" err="1" smtClean="0"/>
              <a:t>cnt</a:t>
            </a:r>
            <a:r>
              <a:rPr lang="en-US" i="1" dirty="0" smtClean="0"/>
              <a:t> /2</a:t>
            </a:r>
            <a:endParaRPr lang="ru-RU" i="1" dirty="0" smtClean="0"/>
          </a:p>
          <a:p>
            <a:r>
              <a:rPr lang="en-US" i="1" dirty="0" smtClean="0"/>
              <a:t>	    BREAK</a:t>
            </a:r>
          </a:p>
          <a:p>
            <a:r>
              <a:rPr lang="en-US" i="1" dirty="0" smtClean="0"/>
              <a:t>	ELSE</a:t>
            </a:r>
            <a:endParaRPr lang="ru-RU" i="1" dirty="0" smtClean="0"/>
          </a:p>
          <a:p>
            <a:r>
              <a:rPr lang="en-US" i="1" dirty="0" smtClean="0"/>
              <a:t>	    UPDATE R1 SET </a:t>
            </a:r>
            <a:r>
              <a:rPr lang="ru-RU" i="1" dirty="0" smtClean="0"/>
              <a:t>оценка</a:t>
            </a:r>
            <a:r>
              <a:rPr lang="en-US" i="1" dirty="0" smtClean="0"/>
              <a:t> = </a:t>
            </a:r>
            <a:r>
              <a:rPr lang="ru-RU" i="1" dirty="0" smtClean="0"/>
              <a:t>оценка + 1</a:t>
            </a:r>
          </a:p>
          <a:p>
            <a:r>
              <a:rPr lang="ru-RU" i="1" dirty="0" smtClean="0"/>
              <a:t>	</a:t>
            </a:r>
            <a:r>
              <a:rPr lang="en-US" i="1" dirty="0" smtClean="0"/>
              <a:t>	WHERE </a:t>
            </a:r>
            <a:r>
              <a:rPr lang="ru-RU" i="1" dirty="0" smtClean="0"/>
              <a:t>дисциплина = </a:t>
            </a:r>
            <a:r>
              <a:rPr lang="en-US" i="1" dirty="0" smtClean="0"/>
              <a:t>‘</a:t>
            </a:r>
            <a:r>
              <a:rPr lang="ru-RU" i="1" dirty="0" smtClean="0"/>
              <a:t>БД</a:t>
            </a:r>
            <a:r>
              <a:rPr lang="en-US" i="1" dirty="0" smtClean="0"/>
              <a:t>’  AND  </a:t>
            </a:r>
            <a:r>
              <a:rPr lang="ru-RU" i="1" dirty="0" smtClean="0"/>
              <a:t>оценка</a:t>
            </a:r>
            <a:r>
              <a:rPr lang="en-US" i="1" dirty="0" smtClean="0"/>
              <a:t> &lt; 5</a:t>
            </a:r>
          </a:p>
          <a:p>
            <a:endParaRPr lang="ru-RU" i="1" dirty="0" smtClean="0"/>
          </a:p>
          <a:p>
            <a:r>
              <a:rPr lang="en-US" i="1" dirty="0" smtClean="0"/>
              <a:t>END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11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1143000"/>
            <a:ext cx="8382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Курсор в SQL </a:t>
            </a:r>
            <a:r>
              <a:rPr lang="ru-RU" dirty="0" smtClean="0"/>
              <a:t>– это область в памяти базы данных, которая предназначена для хранения последнего оператора SQL.</a:t>
            </a:r>
          </a:p>
          <a:p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457200" y="1676400"/>
            <a:ext cx="8686800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/>
              <a:t>DECLARE</a:t>
            </a:r>
            <a:r>
              <a:rPr lang="en-US" sz="3200" dirty="0" smtClean="0"/>
              <a:t> </a:t>
            </a:r>
            <a:r>
              <a:rPr lang="ru-RU" sz="3200" dirty="0" smtClean="0"/>
              <a:t>имя</a:t>
            </a:r>
            <a:r>
              <a:rPr lang="en-US" sz="3200" dirty="0" smtClean="0"/>
              <a:t>_</a:t>
            </a:r>
            <a:r>
              <a:rPr lang="ru-RU" sz="3200" dirty="0" smtClean="0"/>
              <a:t>курсора </a:t>
            </a:r>
            <a:r>
              <a:rPr lang="en-US" sz="3200" b="1" dirty="0" smtClean="0"/>
              <a:t>CURSOR</a:t>
            </a:r>
            <a:r>
              <a:rPr lang="en-US" sz="3200" dirty="0" smtClean="0"/>
              <a:t> [LOCAL | GLOBAL]</a:t>
            </a:r>
            <a:endParaRPr lang="ru-RU" sz="3200" dirty="0" smtClean="0"/>
          </a:p>
          <a:p>
            <a:r>
              <a:rPr lang="en-US" sz="3200" dirty="0" smtClean="0"/>
              <a:t>[FORWARD_ONLY | SCROLL]</a:t>
            </a:r>
            <a:endParaRPr lang="ru-RU" sz="3200" dirty="0" smtClean="0"/>
          </a:p>
          <a:p>
            <a:r>
              <a:rPr lang="en-US" sz="3200" dirty="0" smtClean="0"/>
              <a:t>[STATIC | KEYSET | DYNAMIC | FAST_FORWARD]</a:t>
            </a:r>
            <a:endParaRPr lang="ru-RU" sz="3200" dirty="0" smtClean="0"/>
          </a:p>
          <a:p>
            <a:r>
              <a:rPr lang="en-US" sz="3200" dirty="0" smtClean="0"/>
              <a:t>[READ_ONLY | SCROLL_LOCKS | OPTIMISTIC]</a:t>
            </a:r>
            <a:endParaRPr lang="ru-RU" sz="3200" dirty="0" smtClean="0"/>
          </a:p>
          <a:p>
            <a:r>
              <a:rPr lang="en-US" sz="3200" dirty="0" smtClean="0"/>
              <a:t>[TYPE_WARNING]</a:t>
            </a:r>
            <a:endParaRPr lang="ru-RU" sz="3200" dirty="0" smtClean="0"/>
          </a:p>
          <a:p>
            <a:r>
              <a:rPr lang="en-US" sz="3200" dirty="0" smtClean="0"/>
              <a:t>FOR SELECT_</a:t>
            </a:r>
            <a:r>
              <a:rPr lang="ru-RU" sz="3200" dirty="0" smtClean="0"/>
              <a:t>оператор</a:t>
            </a:r>
          </a:p>
          <a:p>
            <a:r>
              <a:rPr lang="en-US" sz="3200" dirty="0" smtClean="0"/>
              <a:t>[FOR UPDATE [OF </a:t>
            </a:r>
            <a:r>
              <a:rPr lang="ru-RU" sz="3200" dirty="0" smtClean="0"/>
              <a:t>имя</a:t>
            </a:r>
            <a:r>
              <a:rPr lang="en-US" sz="3200" dirty="0" smtClean="0"/>
              <a:t>_</a:t>
            </a:r>
            <a:r>
              <a:rPr lang="ru-RU" sz="3200" dirty="0" smtClean="0"/>
              <a:t>столбца</a:t>
            </a:r>
            <a:r>
              <a:rPr lang="en-US" sz="3200" dirty="0" smtClean="0"/>
              <a:t>[,...n]]]</a:t>
            </a:r>
            <a:endParaRPr lang="ru-RU" sz="3200" dirty="0" smtClean="0"/>
          </a:p>
          <a:p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609600" y="5380672"/>
            <a:ext cx="7467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 smtClean="0"/>
              <a:t>DECLARE </a:t>
            </a:r>
            <a:r>
              <a:rPr lang="en-US" i="1" dirty="0" err="1" smtClean="0"/>
              <a:t>My_Curcor</a:t>
            </a:r>
            <a:r>
              <a:rPr lang="en-US" i="1" dirty="0" smtClean="0"/>
              <a:t> CURSOR SCROLL FOR    SELECT * FROM R1</a:t>
            </a:r>
            <a:endParaRPr lang="ru-RU" dirty="0" smtClean="0"/>
          </a:p>
          <a:p>
            <a:endParaRPr lang="en-US" i="1" dirty="0" smtClean="0"/>
          </a:p>
          <a:p>
            <a:r>
              <a:rPr lang="en-US" i="1" dirty="0" smtClean="0"/>
              <a:t>DECLARE</a:t>
            </a:r>
            <a:r>
              <a:rPr lang="ru-RU" i="1" dirty="0" smtClean="0"/>
              <a:t> @</a:t>
            </a:r>
            <a:r>
              <a:rPr lang="en-US" i="1" dirty="0" err="1" smtClean="0"/>
              <a:t>MyCursor</a:t>
            </a:r>
            <a:r>
              <a:rPr lang="en-US" i="1" dirty="0" smtClean="0"/>
              <a:t> CURSOR</a:t>
            </a:r>
            <a:endParaRPr lang="ru-RU" dirty="0" smtClean="0"/>
          </a:p>
          <a:p>
            <a:r>
              <a:rPr lang="en-US" i="1" dirty="0" smtClean="0"/>
              <a:t>SET @</a:t>
            </a:r>
            <a:r>
              <a:rPr lang="en-US" i="1" dirty="0" err="1" smtClean="0"/>
              <a:t>MyCursor</a:t>
            </a:r>
            <a:r>
              <a:rPr lang="en-US" i="1" dirty="0" smtClean="0"/>
              <a:t>=CURSOR LOCAL SCROLL FOR   SELECT * FROM </a:t>
            </a:r>
            <a:r>
              <a:rPr lang="ru-RU" i="1" dirty="0" smtClean="0"/>
              <a:t>Клиент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12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1219200"/>
            <a:ext cx="8305800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Открытие курсора</a:t>
            </a:r>
            <a:endParaRPr lang="ru-RU" dirty="0" smtClean="0"/>
          </a:p>
          <a:p>
            <a:endParaRPr lang="en-US" b="1" dirty="0" smtClean="0"/>
          </a:p>
          <a:p>
            <a:r>
              <a:rPr lang="en-US" sz="2000" b="1" dirty="0" smtClean="0"/>
              <a:t>OPEN </a:t>
            </a:r>
            <a:r>
              <a:rPr lang="en-US" sz="2000" dirty="0" smtClean="0"/>
              <a:t>{{[GLOBAL] </a:t>
            </a:r>
            <a:r>
              <a:rPr lang="ru-RU" sz="2000" dirty="0" smtClean="0"/>
              <a:t>имя</a:t>
            </a:r>
            <a:r>
              <a:rPr lang="en-US" sz="2000" dirty="0" smtClean="0"/>
              <a:t>_</a:t>
            </a:r>
            <a:r>
              <a:rPr lang="ru-RU" sz="2000" dirty="0" smtClean="0"/>
              <a:t>курсора</a:t>
            </a:r>
            <a:r>
              <a:rPr lang="en-US" sz="2000" dirty="0" smtClean="0"/>
              <a:t> } |@</a:t>
            </a:r>
            <a:r>
              <a:rPr lang="ru-RU" sz="2000" dirty="0" smtClean="0"/>
              <a:t>имя</a:t>
            </a:r>
            <a:r>
              <a:rPr lang="en-US" sz="2000" dirty="0" smtClean="0"/>
              <a:t>_</a:t>
            </a:r>
            <a:r>
              <a:rPr lang="ru-RU" sz="2000" dirty="0" smtClean="0"/>
              <a:t>переменной</a:t>
            </a:r>
            <a:r>
              <a:rPr lang="en-US" sz="2000" dirty="0" smtClean="0"/>
              <a:t>_</a:t>
            </a:r>
            <a:r>
              <a:rPr lang="ru-RU" sz="2000" dirty="0" smtClean="0"/>
              <a:t>курсора</a:t>
            </a:r>
            <a:r>
              <a:rPr lang="en-US" sz="2000" dirty="0" smtClean="0"/>
              <a:t>}</a:t>
            </a:r>
          </a:p>
          <a:p>
            <a:endParaRPr lang="en-US" dirty="0" smtClean="0"/>
          </a:p>
          <a:p>
            <a:endParaRPr lang="en-US" b="1" i="1" dirty="0" smtClean="0"/>
          </a:p>
          <a:p>
            <a:r>
              <a:rPr lang="ru-RU" b="1" i="1" dirty="0" smtClean="0"/>
              <a:t>Выборка данных из курсора</a:t>
            </a:r>
            <a:endParaRPr lang="en-US" b="1" i="1" dirty="0" smtClean="0"/>
          </a:p>
          <a:p>
            <a:endParaRPr lang="ru-RU" dirty="0" smtClean="0"/>
          </a:p>
          <a:p>
            <a:r>
              <a:rPr lang="en-US" sz="2000" b="1" dirty="0" smtClean="0"/>
              <a:t>FETCH</a:t>
            </a:r>
            <a:r>
              <a:rPr lang="en-US" sz="2000" dirty="0" smtClean="0"/>
              <a:t> [[NEXT | PRIOR | FIRST | LAST</a:t>
            </a:r>
            <a:endParaRPr lang="ru-RU" sz="2000" dirty="0" smtClean="0"/>
          </a:p>
          <a:p>
            <a:r>
              <a:rPr lang="en-US" sz="2000" dirty="0" smtClean="0"/>
              <a:t>| ABSOLUTE {</a:t>
            </a:r>
            <a:r>
              <a:rPr lang="ru-RU" sz="2000" dirty="0" smtClean="0"/>
              <a:t>номер</a:t>
            </a:r>
            <a:r>
              <a:rPr lang="en-US" sz="2000" dirty="0" smtClean="0"/>
              <a:t>_</a:t>
            </a:r>
            <a:r>
              <a:rPr lang="ru-RU" sz="2000" dirty="0" smtClean="0"/>
              <a:t>строки</a:t>
            </a:r>
            <a:r>
              <a:rPr lang="en-US" sz="2000" dirty="0" smtClean="0"/>
              <a:t>  |@</a:t>
            </a:r>
            <a:r>
              <a:rPr lang="ru-RU" sz="2000" dirty="0" smtClean="0"/>
              <a:t>переменная</a:t>
            </a:r>
            <a:r>
              <a:rPr lang="en-US" sz="2000" dirty="0" smtClean="0"/>
              <a:t>_</a:t>
            </a:r>
            <a:r>
              <a:rPr lang="ru-RU" sz="2000" dirty="0" smtClean="0"/>
              <a:t>номера</a:t>
            </a:r>
            <a:r>
              <a:rPr lang="en-US" sz="2000" dirty="0" smtClean="0"/>
              <a:t>_</a:t>
            </a:r>
            <a:r>
              <a:rPr lang="ru-RU" sz="2000" dirty="0" smtClean="0"/>
              <a:t>строки</a:t>
            </a:r>
            <a:r>
              <a:rPr lang="en-US" sz="2000" dirty="0" smtClean="0"/>
              <a:t>}</a:t>
            </a:r>
            <a:endParaRPr lang="ru-RU" sz="2000" dirty="0" smtClean="0"/>
          </a:p>
          <a:p>
            <a:r>
              <a:rPr lang="ru-RU" sz="2000" dirty="0" smtClean="0"/>
              <a:t>| </a:t>
            </a:r>
            <a:r>
              <a:rPr lang="en-US" sz="2000" dirty="0" smtClean="0"/>
              <a:t>RELATIVE</a:t>
            </a:r>
            <a:r>
              <a:rPr lang="ru-RU" sz="2000" dirty="0" smtClean="0"/>
              <a:t> {</a:t>
            </a:r>
            <a:r>
              <a:rPr lang="ru-RU" sz="2000" dirty="0" err="1" smtClean="0"/>
              <a:t>номер_строки</a:t>
            </a:r>
            <a:r>
              <a:rPr lang="ru-RU" sz="2000" dirty="0" smtClean="0"/>
              <a:t> </a:t>
            </a:r>
            <a:r>
              <a:rPr lang="ru-RU" sz="2000" dirty="0" err="1" smtClean="0"/>
              <a:t>|@переменная_номера_строки</a:t>
            </a:r>
            <a:r>
              <a:rPr lang="ru-RU" sz="2000" dirty="0" smtClean="0"/>
              <a:t>}]</a:t>
            </a:r>
          </a:p>
          <a:p>
            <a:r>
              <a:rPr lang="en-US" sz="2000" dirty="0" smtClean="0"/>
              <a:t>FROM</a:t>
            </a:r>
            <a:r>
              <a:rPr lang="ru-RU" sz="2000" dirty="0" smtClean="0"/>
              <a:t> ]{{[</a:t>
            </a:r>
            <a:r>
              <a:rPr lang="en-US" sz="2000" dirty="0" smtClean="0"/>
              <a:t>GLOBAL</a:t>
            </a:r>
            <a:r>
              <a:rPr lang="ru-RU" sz="2000" dirty="0" smtClean="0"/>
              <a:t> ]</a:t>
            </a:r>
            <a:r>
              <a:rPr lang="ru-RU" sz="2000" dirty="0" err="1" smtClean="0"/>
              <a:t>имя_курсора</a:t>
            </a:r>
            <a:r>
              <a:rPr lang="ru-RU" sz="2000" dirty="0" smtClean="0"/>
              <a:t> }|	@</a:t>
            </a:r>
            <a:r>
              <a:rPr lang="ru-RU" sz="2000" dirty="0" err="1" smtClean="0"/>
              <a:t>имя_переменной_курсора</a:t>
            </a:r>
            <a:r>
              <a:rPr lang="ru-RU" sz="2000" dirty="0" smtClean="0"/>
              <a:t> }</a:t>
            </a:r>
          </a:p>
          <a:p>
            <a:r>
              <a:rPr lang="ru-RU" sz="2000" dirty="0" smtClean="0"/>
              <a:t>[</a:t>
            </a:r>
            <a:r>
              <a:rPr lang="en-US" sz="2000" dirty="0" smtClean="0"/>
              <a:t>INTO</a:t>
            </a:r>
            <a:r>
              <a:rPr lang="ru-RU" sz="2000" dirty="0" smtClean="0"/>
              <a:t> @</a:t>
            </a:r>
            <a:r>
              <a:rPr lang="ru-RU" sz="2000" dirty="0" err="1" smtClean="0"/>
              <a:t>имя_переменной</a:t>
            </a:r>
            <a:r>
              <a:rPr lang="ru-RU" sz="2000" dirty="0" smtClean="0"/>
              <a:t> [,...</a:t>
            </a:r>
            <a:r>
              <a:rPr lang="en-US" sz="2000" dirty="0" smtClean="0"/>
              <a:t>n</a:t>
            </a:r>
            <a:r>
              <a:rPr lang="ru-RU" sz="2000" dirty="0" smtClean="0"/>
              <a:t>]]</a:t>
            </a:r>
            <a:endParaRPr lang="en-US" sz="2000" dirty="0" smtClean="0"/>
          </a:p>
          <a:p>
            <a:endParaRPr lang="en-US" sz="2000" dirty="0" smtClean="0"/>
          </a:p>
          <a:p>
            <a:endParaRPr lang="ru-RU" sz="2000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13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609600" y="1143000"/>
            <a:ext cx="800100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Проверка результатов выборки</a:t>
            </a:r>
          </a:p>
          <a:p>
            <a:endParaRPr lang="en-US" b="1" i="1" dirty="0" smtClean="0"/>
          </a:p>
          <a:p>
            <a:r>
              <a:rPr lang="ru-RU" dirty="0" smtClean="0"/>
              <a:t>Функция </a:t>
            </a:r>
            <a:r>
              <a:rPr lang="ru-RU" b="1" dirty="0" smtClean="0"/>
              <a:t>@@FETCH_STATUS </a:t>
            </a:r>
            <a:r>
              <a:rPr lang="ru-RU" dirty="0" smtClean="0"/>
              <a:t>возвращает:</a:t>
            </a:r>
            <a:endParaRPr lang="en-US" dirty="0" smtClean="0"/>
          </a:p>
          <a:p>
            <a:endParaRPr lang="ru-RU" dirty="0" smtClean="0"/>
          </a:p>
          <a:p>
            <a:r>
              <a:rPr lang="ru-RU" dirty="0" smtClean="0"/>
              <a:t> 0, если выборка завершилась успешно;</a:t>
            </a:r>
          </a:p>
          <a:p>
            <a:r>
              <a:rPr lang="ru-RU" dirty="0" smtClean="0"/>
              <a:t>-1, если выборка завершилась неудачно вследствие попытки выборки строки, находящейся за пределами курсора;</a:t>
            </a:r>
          </a:p>
          <a:p>
            <a:r>
              <a:rPr lang="ru-RU" dirty="0" smtClean="0"/>
              <a:t>-2, если выборка завершилась неудачно вследствие попытки обращения к удаленной или измененной строке.</a:t>
            </a:r>
            <a:endParaRPr lang="en-US" dirty="0" smtClean="0"/>
          </a:p>
          <a:p>
            <a:endParaRPr lang="en-US" dirty="0" smtClean="0"/>
          </a:p>
          <a:p>
            <a:r>
              <a:rPr lang="ru-RU" b="1" i="1" dirty="0" smtClean="0"/>
              <a:t>Закрытие курсора</a:t>
            </a:r>
            <a:endParaRPr lang="ru-RU" dirty="0" smtClean="0"/>
          </a:p>
          <a:p>
            <a:endParaRPr lang="en-US" b="1" dirty="0" smtClean="0"/>
          </a:p>
          <a:p>
            <a:r>
              <a:rPr lang="ru-RU" b="1" dirty="0" smtClean="0"/>
              <a:t>CLOSE</a:t>
            </a:r>
            <a:r>
              <a:rPr lang="ru-RU" dirty="0" smtClean="0"/>
              <a:t> {имя_курсора | @имя_переменной_курсора}</a:t>
            </a:r>
            <a:endParaRPr lang="en-US" dirty="0" smtClean="0"/>
          </a:p>
          <a:p>
            <a:endParaRPr lang="en-US" dirty="0" smtClean="0"/>
          </a:p>
          <a:p>
            <a:r>
              <a:rPr lang="ru-RU" b="1" i="1" dirty="0" smtClean="0"/>
              <a:t>Освобождение курсора</a:t>
            </a:r>
            <a:endParaRPr lang="en-US" b="1" i="1" dirty="0" smtClean="0"/>
          </a:p>
          <a:p>
            <a:endParaRPr lang="ru-RU" dirty="0" smtClean="0"/>
          </a:p>
          <a:p>
            <a:r>
              <a:rPr lang="en-US" b="1" dirty="0" smtClean="0"/>
              <a:t>DEALLOCATE</a:t>
            </a:r>
            <a:r>
              <a:rPr lang="en-US" dirty="0" smtClean="0"/>
              <a:t> { </a:t>
            </a:r>
            <a:r>
              <a:rPr lang="ru-RU" dirty="0" smtClean="0"/>
              <a:t>имя</a:t>
            </a:r>
            <a:r>
              <a:rPr lang="en-US" dirty="0" smtClean="0"/>
              <a:t>_</a:t>
            </a:r>
            <a:r>
              <a:rPr lang="ru-RU" dirty="0" smtClean="0"/>
              <a:t>курсора</a:t>
            </a:r>
            <a:r>
              <a:rPr lang="en-US" dirty="0" smtClean="0"/>
              <a:t> |   @</a:t>
            </a:r>
            <a:r>
              <a:rPr lang="ru-RU" dirty="0" smtClean="0"/>
              <a:t>имя</a:t>
            </a:r>
            <a:r>
              <a:rPr lang="en-US" dirty="0" smtClean="0"/>
              <a:t>_</a:t>
            </a:r>
            <a:r>
              <a:rPr lang="ru-RU" dirty="0" smtClean="0"/>
              <a:t>переменной</a:t>
            </a:r>
            <a:r>
              <a:rPr lang="en-US" dirty="0" smtClean="0"/>
              <a:t>_</a:t>
            </a:r>
            <a:r>
              <a:rPr lang="ru-RU" dirty="0" smtClean="0"/>
              <a:t>курсора</a:t>
            </a:r>
            <a:r>
              <a:rPr lang="en-US" dirty="0" smtClean="0"/>
              <a:t> }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914400"/>
            <a:ext cx="5296639" cy="474411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2895600"/>
            <a:ext cx="3450339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900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15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144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762000"/>
            <a:ext cx="93726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Пример использования  курсора  для вывода ведомостей</a:t>
            </a:r>
          </a:p>
          <a:p>
            <a:r>
              <a:rPr lang="en-US" sz="1400" b="1" i="1" dirty="0" smtClean="0"/>
              <a:t>DECLARE</a:t>
            </a:r>
            <a:r>
              <a:rPr lang="en-US" sz="1400" i="1" dirty="0" smtClean="0"/>
              <a:t>  @</a:t>
            </a:r>
            <a:r>
              <a:rPr lang="en-US" sz="1400" i="1" dirty="0" err="1" smtClean="0"/>
              <a:t>nomer</a:t>
            </a:r>
            <a:r>
              <a:rPr lang="en-US" sz="1400" i="1" dirty="0" smtClean="0"/>
              <a:t>   </a:t>
            </a:r>
            <a:r>
              <a:rPr lang="en-US" sz="1400" i="1" dirty="0" err="1" smtClean="0"/>
              <a:t>int</a:t>
            </a:r>
            <a:r>
              <a:rPr lang="en-US" sz="1400" i="1" dirty="0" smtClean="0"/>
              <a:t>=0, @group </a:t>
            </a:r>
            <a:r>
              <a:rPr lang="en-US" sz="1400" i="1" dirty="0" err="1" smtClean="0"/>
              <a:t>varchar</a:t>
            </a:r>
            <a:r>
              <a:rPr lang="en-US" sz="1400" i="1" dirty="0" smtClean="0"/>
              <a:t>(20),@</a:t>
            </a:r>
            <a:r>
              <a:rPr lang="en-US" sz="1400" i="1" dirty="0" err="1" smtClean="0"/>
              <a:t>predmet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varchar</a:t>
            </a:r>
            <a:r>
              <a:rPr lang="en-US" sz="1400" i="1" dirty="0" smtClean="0"/>
              <a:t>(40), @message </a:t>
            </a:r>
            <a:r>
              <a:rPr lang="en-US" sz="1400" i="1" dirty="0" err="1" smtClean="0"/>
              <a:t>varchar</a:t>
            </a:r>
            <a:r>
              <a:rPr lang="en-US" sz="1400" i="1" dirty="0" smtClean="0"/>
              <a:t>(250)</a:t>
            </a:r>
            <a:r>
              <a:rPr lang="en-US" sz="1400" dirty="0" smtClean="0"/>
              <a:t>, @</a:t>
            </a:r>
            <a:r>
              <a:rPr lang="en-US" sz="1400" i="1" dirty="0" err="1" smtClean="0"/>
              <a:t>fio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varchar</a:t>
            </a:r>
            <a:r>
              <a:rPr lang="en-US" sz="1400" i="1" dirty="0" smtClean="0"/>
              <a:t>(40),@</a:t>
            </a:r>
            <a:r>
              <a:rPr lang="en-US" sz="1400" i="1" dirty="0" err="1" smtClean="0"/>
              <a:t>nfio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int</a:t>
            </a:r>
            <a:endParaRPr lang="ru-RU" sz="1400" dirty="0" smtClean="0"/>
          </a:p>
          <a:p>
            <a:r>
              <a:rPr lang="en-US" sz="1400" b="1" i="1" dirty="0" smtClean="0"/>
              <a:t>PRINT</a:t>
            </a:r>
            <a:r>
              <a:rPr lang="en-US" sz="1400" i="1" dirty="0" smtClean="0"/>
              <a:t> ' </a:t>
            </a:r>
            <a:r>
              <a:rPr lang="ru-RU" sz="1400" i="1" dirty="0" smtClean="0"/>
              <a:t>Ведомости</a:t>
            </a:r>
            <a:r>
              <a:rPr lang="en-US" sz="1400" i="1" dirty="0" smtClean="0"/>
              <a:t>'</a:t>
            </a:r>
            <a:endParaRPr lang="ru-RU" sz="1400" dirty="0" smtClean="0"/>
          </a:p>
          <a:p>
            <a:r>
              <a:rPr lang="en-US" sz="1400" b="1" i="1" dirty="0" smtClean="0"/>
              <a:t>DECLARE</a:t>
            </a:r>
            <a:r>
              <a:rPr lang="en-US" sz="1400" i="1" dirty="0" smtClean="0"/>
              <a:t> </a:t>
            </a:r>
            <a:r>
              <a:rPr lang="en-US" sz="1400" i="1" dirty="0" err="1"/>
              <a:t>PrGrCursor</a:t>
            </a:r>
            <a:r>
              <a:rPr lang="en-US" sz="1400" i="1" dirty="0"/>
              <a:t> </a:t>
            </a:r>
            <a:r>
              <a:rPr lang="en-US" sz="1400" b="1" i="1" dirty="0" smtClean="0"/>
              <a:t>CURSOR LOCAL FOR  SELECT</a:t>
            </a:r>
            <a:r>
              <a:rPr lang="en-US" sz="1400" i="1" dirty="0" smtClean="0"/>
              <a:t> * </a:t>
            </a:r>
            <a:r>
              <a:rPr lang="en-US" sz="1400" b="1" i="1" dirty="0" smtClean="0"/>
              <a:t>FROM </a:t>
            </a:r>
            <a:r>
              <a:rPr lang="en-US" sz="1400" i="1" dirty="0" smtClean="0"/>
              <a:t>R3  </a:t>
            </a:r>
            <a:r>
              <a:rPr lang="en-US" sz="1400" b="1" i="1" dirty="0" smtClean="0"/>
              <a:t>ORDER BY </a:t>
            </a:r>
            <a:r>
              <a:rPr lang="en-US" sz="1400" i="1" dirty="0" smtClean="0"/>
              <a:t>[</a:t>
            </a:r>
            <a:r>
              <a:rPr lang="ru-RU" sz="1400" i="1" dirty="0" smtClean="0"/>
              <a:t>группа</a:t>
            </a:r>
            <a:r>
              <a:rPr lang="en-US" sz="1400" i="1" dirty="0" smtClean="0"/>
              <a:t>]</a:t>
            </a:r>
            <a:endParaRPr lang="ru-RU" sz="1400" dirty="0" smtClean="0"/>
          </a:p>
          <a:p>
            <a:r>
              <a:rPr lang="en-US" sz="1400" b="1" i="1" dirty="0" smtClean="0"/>
              <a:t>OPEN</a:t>
            </a:r>
            <a:r>
              <a:rPr lang="en-US" sz="1400" i="1" dirty="0" smtClean="0"/>
              <a:t> </a:t>
            </a:r>
            <a:r>
              <a:rPr lang="en-US" sz="1400" i="1" dirty="0" err="1"/>
              <a:t>PrGrCursor</a:t>
            </a:r>
            <a:r>
              <a:rPr lang="en-US" sz="1400" i="1" dirty="0"/>
              <a:t> </a:t>
            </a:r>
            <a:endParaRPr lang="en-US" sz="1400" i="1" dirty="0" smtClean="0"/>
          </a:p>
          <a:p>
            <a:r>
              <a:rPr lang="en-US" sz="1400" b="1" i="1" dirty="0" smtClean="0"/>
              <a:t>FETCH NEXT FROM </a:t>
            </a:r>
            <a:r>
              <a:rPr lang="en-US" sz="1400" i="1"/>
              <a:t>PrGrCursor </a:t>
            </a:r>
            <a:r>
              <a:rPr lang="en-US" sz="1400" b="1" i="1" dirty="0" smtClean="0"/>
              <a:t>INTO</a:t>
            </a:r>
            <a:r>
              <a:rPr lang="en-US" sz="1400" i="1" dirty="0" smtClean="0"/>
              <a:t> @group , @</a:t>
            </a:r>
            <a:r>
              <a:rPr lang="en-US" sz="1400" i="1" dirty="0" err="1" smtClean="0"/>
              <a:t>predmet</a:t>
            </a:r>
            <a:r>
              <a:rPr lang="en-US" sz="1400" i="1" dirty="0" smtClean="0"/>
              <a:t> </a:t>
            </a:r>
            <a:endParaRPr lang="ru-RU" sz="1400" dirty="0" smtClean="0"/>
          </a:p>
          <a:p>
            <a:r>
              <a:rPr lang="en-US" sz="1400" b="1" i="1" dirty="0" smtClean="0"/>
              <a:t>      WHILE </a:t>
            </a:r>
            <a:r>
              <a:rPr lang="en-US" sz="1400" i="1" dirty="0" smtClean="0"/>
              <a:t>@@FETCH_STATUS=0</a:t>
            </a:r>
            <a:endParaRPr lang="ru-RU" sz="1400" dirty="0" smtClean="0"/>
          </a:p>
          <a:p>
            <a:r>
              <a:rPr lang="en-US" sz="1400" i="1" dirty="0" smtClean="0"/>
              <a:t>          </a:t>
            </a:r>
            <a:r>
              <a:rPr lang="en-US" sz="1400" b="1" i="1" dirty="0" smtClean="0"/>
              <a:t>BEGIN</a:t>
            </a:r>
            <a:endParaRPr lang="en-US" sz="1400" b="1" dirty="0" smtClean="0"/>
          </a:p>
          <a:p>
            <a:r>
              <a:rPr lang="en-US" sz="1400" b="1" i="1" dirty="0" smtClean="0"/>
              <a:t>               SET </a:t>
            </a:r>
            <a:r>
              <a:rPr lang="en-US" sz="1400" i="1" dirty="0" smtClean="0"/>
              <a:t>@</a:t>
            </a:r>
            <a:r>
              <a:rPr lang="en-US" sz="1400" i="1" dirty="0" err="1" smtClean="0"/>
              <a:t>nomer</a:t>
            </a:r>
            <a:r>
              <a:rPr lang="en-US" sz="1400" i="1" dirty="0" smtClean="0"/>
              <a:t> = @</a:t>
            </a:r>
            <a:r>
              <a:rPr lang="en-US" sz="1400" i="1" dirty="0" err="1" smtClean="0"/>
              <a:t>nomer</a:t>
            </a:r>
            <a:r>
              <a:rPr lang="en-US" sz="1400" i="1" dirty="0" smtClean="0"/>
              <a:t> +1</a:t>
            </a:r>
            <a:endParaRPr lang="en-US" sz="1400" b="1" i="1" dirty="0" smtClean="0"/>
          </a:p>
          <a:p>
            <a:r>
              <a:rPr lang="en-US" sz="1400" b="1" i="1" dirty="0" smtClean="0"/>
              <a:t>              SELECT</a:t>
            </a:r>
            <a:r>
              <a:rPr lang="en-US" sz="1400" i="1" dirty="0" smtClean="0"/>
              <a:t> @message=‘</a:t>
            </a:r>
            <a:r>
              <a:rPr lang="ru-RU" sz="1400" i="1" dirty="0" smtClean="0"/>
              <a:t>Ведомость №</a:t>
            </a:r>
            <a:r>
              <a:rPr lang="en-US" sz="1400" i="1" dirty="0" smtClean="0"/>
              <a:t> '+cast(@</a:t>
            </a:r>
            <a:r>
              <a:rPr lang="en-US" sz="1400" i="1" dirty="0" err="1" smtClean="0"/>
              <a:t>nomer</a:t>
            </a:r>
            <a:r>
              <a:rPr lang="en-US" sz="1400" i="1" dirty="0" smtClean="0"/>
              <a:t> as </a:t>
            </a:r>
            <a:r>
              <a:rPr lang="en-US" sz="1400" i="1" dirty="0" err="1" smtClean="0"/>
              <a:t>varchar</a:t>
            </a:r>
            <a:r>
              <a:rPr lang="en-US" sz="1400" i="1" dirty="0" smtClean="0"/>
              <a:t>) + ‘</a:t>
            </a:r>
            <a:r>
              <a:rPr lang="ru-RU" sz="1400" i="1" dirty="0" smtClean="0"/>
              <a:t> группа</a:t>
            </a:r>
            <a:r>
              <a:rPr lang="en-US" sz="1400" i="1" dirty="0" smtClean="0"/>
              <a:t> </a:t>
            </a:r>
            <a:r>
              <a:rPr lang="ru-RU" sz="1400" i="1" dirty="0" smtClean="0"/>
              <a:t> </a:t>
            </a:r>
            <a:r>
              <a:rPr lang="en-US" sz="1400" i="1" dirty="0" smtClean="0"/>
              <a:t>‘ + @group +</a:t>
            </a:r>
            <a:r>
              <a:rPr lang="ru-RU" sz="1400" i="1" dirty="0" smtClean="0"/>
              <a:t> </a:t>
            </a:r>
            <a:r>
              <a:rPr lang="en-US" sz="1400" i="1" dirty="0" smtClean="0"/>
              <a:t>‘ </a:t>
            </a:r>
            <a:r>
              <a:rPr lang="ru-RU" sz="1400" i="1" dirty="0" smtClean="0"/>
              <a:t> предмет </a:t>
            </a:r>
            <a:r>
              <a:rPr lang="en-US" sz="1400" i="1" dirty="0" smtClean="0"/>
              <a:t> ‘ + @</a:t>
            </a:r>
            <a:r>
              <a:rPr lang="en-US" sz="1400" i="1" dirty="0" err="1" smtClean="0"/>
              <a:t>predmet</a:t>
            </a:r>
            <a:r>
              <a:rPr lang="en-US" sz="1400" i="1" dirty="0" smtClean="0"/>
              <a:t> </a:t>
            </a:r>
            <a:endParaRPr lang="ru-RU" sz="1400" dirty="0" smtClean="0"/>
          </a:p>
          <a:p>
            <a:r>
              <a:rPr lang="en-US" sz="1400" b="1" i="1" dirty="0" smtClean="0"/>
              <a:t>              PRINT</a:t>
            </a:r>
            <a:r>
              <a:rPr lang="en-US" sz="1400" i="1" dirty="0" smtClean="0"/>
              <a:t> @message</a:t>
            </a:r>
            <a:endParaRPr lang="ru-RU" sz="1400" i="1" dirty="0" smtClean="0"/>
          </a:p>
          <a:p>
            <a:r>
              <a:rPr lang="en-US" sz="1400" i="1" dirty="0" smtClean="0"/>
              <a:t>              </a:t>
            </a:r>
            <a:r>
              <a:rPr lang="en-US" sz="1400" b="1" i="1" dirty="0" smtClean="0"/>
              <a:t>DECLARE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Vedomost</a:t>
            </a:r>
            <a:r>
              <a:rPr lang="en-US" sz="1400" i="1" dirty="0" smtClean="0"/>
              <a:t> </a:t>
            </a:r>
            <a:r>
              <a:rPr lang="en-US" sz="1400" b="1" i="1" dirty="0" smtClean="0"/>
              <a:t>CURSOR LOCAL FOR   </a:t>
            </a:r>
            <a:r>
              <a:rPr lang="ru-RU" sz="1400" b="1" i="1" dirty="0" smtClean="0"/>
              <a:t>	</a:t>
            </a:r>
            <a:r>
              <a:rPr lang="en-US" sz="1400" b="1" i="1" dirty="0" smtClean="0"/>
              <a:t>SELECT</a:t>
            </a:r>
            <a:r>
              <a:rPr lang="en-US" sz="1400" i="1" dirty="0" smtClean="0"/>
              <a:t> </a:t>
            </a:r>
            <a:r>
              <a:rPr lang="en-US" sz="1400" i="1" dirty="0" err="1" smtClean="0">
                <a:latin typeface="Calibri" pitchFamily="34" charset="0"/>
              </a:rPr>
              <a:t>row_number</a:t>
            </a:r>
            <a:r>
              <a:rPr lang="en-US" sz="1400" i="1" dirty="0" smtClean="0">
                <a:latin typeface="Calibri" pitchFamily="34" charset="0"/>
              </a:rPr>
              <a:t>() over(ORDER </a:t>
            </a:r>
            <a:r>
              <a:rPr lang="ru-RU" sz="1400" i="1" dirty="0" smtClean="0">
                <a:latin typeface="Calibri" pitchFamily="34" charset="0"/>
              </a:rPr>
              <a:t>ФИО)</a:t>
            </a:r>
            <a:r>
              <a:rPr lang="en-US" sz="1400" i="1" dirty="0" smtClean="0">
                <a:latin typeface="Calibri" pitchFamily="34" charset="0"/>
              </a:rPr>
              <a:t> as Num,</a:t>
            </a:r>
            <a:r>
              <a:rPr lang="ru-RU" sz="1400" i="1" dirty="0" smtClean="0"/>
              <a:t>ФИО</a:t>
            </a:r>
            <a:r>
              <a:rPr lang="en-US" sz="1400" i="1" dirty="0" smtClean="0"/>
              <a:t> </a:t>
            </a:r>
          </a:p>
          <a:p>
            <a:r>
              <a:rPr lang="en-US" sz="1400" b="1" i="1" dirty="0" smtClean="0"/>
              <a:t>				FROM </a:t>
            </a:r>
            <a:r>
              <a:rPr lang="en-US" sz="1400" i="1" dirty="0" smtClean="0"/>
              <a:t>R</a:t>
            </a:r>
            <a:r>
              <a:rPr lang="ru-RU" sz="1400" i="1" dirty="0" smtClean="0"/>
              <a:t>2</a:t>
            </a:r>
            <a:r>
              <a:rPr lang="en-US" sz="1400" i="1" dirty="0" smtClean="0"/>
              <a:t>  </a:t>
            </a:r>
            <a:r>
              <a:rPr lang="en-US" sz="1400" b="1" i="1" dirty="0" smtClean="0"/>
              <a:t>WHERE</a:t>
            </a:r>
            <a:r>
              <a:rPr lang="en-US" sz="1400" i="1" dirty="0" smtClean="0"/>
              <a:t>  [</a:t>
            </a:r>
            <a:r>
              <a:rPr lang="ru-RU" sz="1400" i="1" dirty="0" smtClean="0"/>
              <a:t>группа</a:t>
            </a:r>
            <a:r>
              <a:rPr lang="en-US" sz="1400" i="1" dirty="0" smtClean="0"/>
              <a:t>]</a:t>
            </a:r>
            <a:r>
              <a:rPr lang="ru-RU" sz="1400" i="1" dirty="0" smtClean="0"/>
              <a:t> = </a:t>
            </a:r>
            <a:r>
              <a:rPr lang="en-US" sz="1400" i="1" dirty="0" smtClean="0"/>
              <a:t>@group </a:t>
            </a:r>
            <a:r>
              <a:rPr lang="en-US" sz="1400" b="1" i="1" dirty="0" smtClean="0"/>
              <a:t>ORDER BY </a:t>
            </a:r>
            <a:r>
              <a:rPr lang="en-US" sz="1400" i="1" dirty="0" smtClean="0"/>
              <a:t>[</a:t>
            </a:r>
            <a:r>
              <a:rPr lang="ru-RU" sz="1400" i="1" dirty="0" smtClean="0"/>
              <a:t>ФИО</a:t>
            </a:r>
            <a:r>
              <a:rPr lang="en-US" sz="1400" i="1" dirty="0" smtClean="0"/>
              <a:t>]</a:t>
            </a:r>
            <a:endParaRPr lang="ru-RU" sz="1400" dirty="0" smtClean="0"/>
          </a:p>
          <a:p>
            <a:r>
              <a:rPr lang="ru-RU" sz="1400" b="1" i="1" dirty="0" smtClean="0"/>
              <a:t>	</a:t>
            </a:r>
            <a:r>
              <a:rPr lang="en-US" sz="1400" b="1" i="1" dirty="0" smtClean="0"/>
              <a:t>OPEN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Vedomost</a:t>
            </a:r>
            <a:endParaRPr lang="en-US" sz="1400" i="1" dirty="0" smtClean="0"/>
          </a:p>
          <a:p>
            <a:r>
              <a:rPr lang="en-US" sz="1400" b="1" i="1" dirty="0" smtClean="0"/>
              <a:t>	FETCH NEXT FROM </a:t>
            </a:r>
            <a:r>
              <a:rPr lang="en-US" sz="1400" i="1" dirty="0" err="1" smtClean="0"/>
              <a:t>Vedomost</a:t>
            </a:r>
            <a:r>
              <a:rPr lang="en-US" sz="1400" i="1" dirty="0" smtClean="0"/>
              <a:t> </a:t>
            </a:r>
            <a:r>
              <a:rPr lang="en-US" sz="1400" b="1" i="1" dirty="0" smtClean="0"/>
              <a:t>INTO</a:t>
            </a:r>
            <a:r>
              <a:rPr lang="en-US" sz="1400" i="1" dirty="0" smtClean="0"/>
              <a:t> @</a:t>
            </a:r>
            <a:r>
              <a:rPr lang="en-US" sz="1400" i="1" dirty="0" err="1" smtClean="0"/>
              <a:t>nfio</a:t>
            </a:r>
            <a:r>
              <a:rPr lang="en-US" sz="1400" i="1" dirty="0" smtClean="0"/>
              <a:t> , @</a:t>
            </a:r>
            <a:r>
              <a:rPr lang="en-US" sz="1400" i="1" dirty="0" err="1" smtClean="0"/>
              <a:t>fio</a:t>
            </a:r>
            <a:r>
              <a:rPr lang="en-US" sz="1400" i="1" dirty="0" smtClean="0"/>
              <a:t> </a:t>
            </a:r>
            <a:endParaRPr lang="ru-RU" sz="1400" dirty="0" smtClean="0"/>
          </a:p>
          <a:p>
            <a:r>
              <a:rPr lang="en-US" sz="1400" i="1" dirty="0" smtClean="0"/>
              <a:t>	</a:t>
            </a:r>
            <a:r>
              <a:rPr lang="en-US" sz="1400" b="1" i="1" dirty="0" smtClean="0"/>
              <a:t>WHILE </a:t>
            </a:r>
            <a:r>
              <a:rPr lang="en-US" sz="1400" i="1" dirty="0" smtClean="0"/>
              <a:t>@@FETCH_STATUS=0</a:t>
            </a:r>
            <a:endParaRPr lang="ru-RU" sz="1400" dirty="0" smtClean="0"/>
          </a:p>
          <a:p>
            <a:r>
              <a:rPr lang="en-US" sz="1400" i="1" dirty="0" smtClean="0"/>
              <a:t>		</a:t>
            </a:r>
            <a:r>
              <a:rPr lang="en-US" sz="1400" b="1" i="1" dirty="0" smtClean="0"/>
              <a:t>PRINT   </a:t>
            </a:r>
            <a:r>
              <a:rPr lang="en-US" sz="1400" i="1" dirty="0" smtClean="0"/>
              <a:t>cast(@</a:t>
            </a:r>
            <a:r>
              <a:rPr lang="en-US" sz="1400" i="1" dirty="0" err="1" smtClean="0"/>
              <a:t>nfio</a:t>
            </a:r>
            <a:r>
              <a:rPr lang="en-US" sz="1400" i="1" dirty="0" smtClean="0"/>
              <a:t> as </a:t>
            </a:r>
            <a:r>
              <a:rPr lang="en-US" sz="1400" i="1" dirty="0" err="1" smtClean="0"/>
              <a:t>varchar</a:t>
            </a:r>
            <a:r>
              <a:rPr lang="en-US" sz="1400" i="1" dirty="0" smtClean="0"/>
              <a:t>) + ‘  ‘ + @</a:t>
            </a:r>
            <a:r>
              <a:rPr lang="en-US" sz="1400" i="1" dirty="0" err="1" smtClean="0"/>
              <a:t>fio</a:t>
            </a:r>
            <a:r>
              <a:rPr lang="en-US" sz="1400" i="1" dirty="0" smtClean="0"/>
              <a:t> </a:t>
            </a:r>
          </a:p>
          <a:p>
            <a:r>
              <a:rPr lang="en-US" sz="1400" b="1" i="1" dirty="0" smtClean="0"/>
              <a:t>		FETCH NEXT FROM </a:t>
            </a:r>
            <a:r>
              <a:rPr lang="en-US" sz="1400" i="1" dirty="0" err="1" smtClean="0"/>
              <a:t>Vedomost</a:t>
            </a:r>
            <a:r>
              <a:rPr lang="en-US" sz="1400" i="1" dirty="0" smtClean="0"/>
              <a:t> </a:t>
            </a:r>
            <a:r>
              <a:rPr lang="en-US" sz="1400" b="1" i="1" dirty="0" smtClean="0"/>
              <a:t>INTO</a:t>
            </a:r>
            <a:r>
              <a:rPr lang="en-US" sz="1400" i="1" dirty="0" smtClean="0"/>
              <a:t> @</a:t>
            </a:r>
            <a:r>
              <a:rPr lang="en-US" sz="1400" i="1" dirty="0" err="1" smtClean="0"/>
              <a:t>nfio</a:t>
            </a:r>
            <a:r>
              <a:rPr lang="en-US" sz="1400" i="1" dirty="0" smtClean="0"/>
              <a:t> , @</a:t>
            </a:r>
            <a:r>
              <a:rPr lang="en-US" sz="1400" i="1" dirty="0" err="1" smtClean="0"/>
              <a:t>fio</a:t>
            </a:r>
            <a:endParaRPr lang="ru-RU" sz="1400" b="1" i="1" dirty="0" smtClean="0"/>
          </a:p>
          <a:p>
            <a:r>
              <a:rPr lang="en-US" sz="1400" dirty="0" smtClean="0"/>
              <a:t>	</a:t>
            </a:r>
            <a:r>
              <a:rPr lang="en-US" sz="1400" b="1" dirty="0" smtClean="0"/>
              <a:t> END</a:t>
            </a:r>
            <a:endParaRPr lang="ru-RU" sz="1400" dirty="0" smtClean="0"/>
          </a:p>
          <a:p>
            <a:r>
              <a:rPr lang="en-US" sz="1400" b="1" i="1" dirty="0" smtClean="0"/>
              <a:t>	CLOSE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Vedomost</a:t>
            </a:r>
            <a:endParaRPr lang="ru-RU" sz="1400" dirty="0" smtClean="0"/>
          </a:p>
          <a:p>
            <a:r>
              <a:rPr lang="en-US" sz="1400" b="1" i="1" dirty="0" smtClean="0"/>
              <a:t>	DEALLOCATE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Vedomost</a:t>
            </a:r>
            <a:endParaRPr lang="ru-RU" sz="1400" dirty="0" smtClean="0"/>
          </a:p>
          <a:p>
            <a:r>
              <a:rPr lang="en-US" sz="1400" b="1" i="1" dirty="0" smtClean="0"/>
              <a:t>              FETCH NEXT FROM </a:t>
            </a:r>
            <a:r>
              <a:rPr lang="en-US" sz="1400" i="1" dirty="0" err="1" smtClean="0"/>
              <a:t>PrGrCursor</a:t>
            </a:r>
            <a:r>
              <a:rPr lang="en-US" sz="1400" i="1" dirty="0" smtClean="0"/>
              <a:t> </a:t>
            </a:r>
            <a:r>
              <a:rPr lang="en-US" sz="1400" b="1" i="1" dirty="0" smtClean="0"/>
              <a:t>INTO</a:t>
            </a:r>
            <a:r>
              <a:rPr lang="en-US" sz="1400" i="1" dirty="0" smtClean="0"/>
              <a:t> @group , @</a:t>
            </a:r>
            <a:r>
              <a:rPr lang="en-US" sz="1400" i="1" dirty="0" err="1" smtClean="0"/>
              <a:t>predmet</a:t>
            </a:r>
            <a:r>
              <a:rPr lang="en-US" sz="1400" i="1" dirty="0" smtClean="0"/>
              <a:t> </a:t>
            </a:r>
            <a:endParaRPr lang="ru-RU" sz="1400" dirty="0" smtClean="0"/>
          </a:p>
          <a:p>
            <a:r>
              <a:rPr lang="en-US" sz="1400" b="1" dirty="0" smtClean="0"/>
              <a:t>         </a:t>
            </a:r>
            <a:r>
              <a:rPr lang="en-US" sz="1400" b="1" i="1" dirty="0" smtClean="0"/>
              <a:t>END</a:t>
            </a:r>
            <a:endParaRPr lang="ru-RU" sz="1400" b="1" i="1" dirty="0" smtClean="0"/>
          </a:p>
          <a:p>
            <a:r>
              <a:rPr lang="en-US" sz="1400" b="1" i="1" dirty="0" smtClean="0"/>
              <a:t>CLOSE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PrGrCursor</a:t>
            </a:r>
            <a:endParaRPr lang="ru-RU" sz="1400" dirty="0" smtClean="0"/>
          </a:p>
          <a:p>
            <a:r>
              <a:rPr lang="en-US" sz="1400" b="1" i="1" dirty="0" smtClean="0"/>
              <a:t>DEALLOCATE</a:t>
            </a:r>
            <a:r>
              <a:rPr lang="en-US" sz="1400" i="1" dirty="0" smtClean="0"/>
              <a:t> </a:t>
            </a:r>
            <a:r>
              <a:rPr lang="en-US" sz="1400" i="1" dirty="0" err="1" smtClean="0"/>
              <a:t>PrGrCursor</a:t>
            </a:r>
            <a:endParaRPr lang="ru-RU" sz="1400" dirty="0" smtClean="0"/>
          </a:p>
          <a:p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16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609600" y="1143000"/>
            <a:ext cx="79248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Изменение и удаление данных</a:t>
            </a:r>
            <a:endParaRPr lang="en-US" b="1" dirty="0" smtClean="0"/>
          </a:p>
          <a:p>
            <a:endParaRPr lang="ru-RU" b="1" dirty="0" smtClean="0"/>
          </a:p>
          <a:p>
            <a:r>
              <a:rPr lang="ru-RU" dirty="0" smtClean="0"/>
              <a:t>Для выполнения изменений с помощью </a:t>
            </a:r>
            <a:r>
              <a:rPr lang="ru-RU" i="1" dirty="0" smtClean="0"/>
              <a:t>курсора</a:t>
            </a:r>
            <a:r>
              <a:rPr lang="ru-RU" dirty="0" smtClean="0"/>
              <a:t> необходимо выполнить команду UPDATE в следующем формате:</a:t>
            </a:r>
            <a:endParaRPr lang="en-US" dirty="0" smtClean="0"/>
          </a:p>
          <a:p>
            <a:endParaRPr lang="ru-RU" dirty="0" smtClean="0"/>
          </a:p>
          <a:p>
            <a:r>
              <a:rPr lang="ru-RU" b="1" dirty="0" smtClean="0"/>
              <a:t>UPDATE </a:t>
            </a:r>
            <a:r>
              <a:rPr lang="ru-RU" dirty="0" err="1" smtClean="0"/>
              <a:t>имя_таблицы</a:t>
            </a:r>
            <a:r>
              <a:rPr lang="ru-RU" dirty="0" smtClean="0"/>
              <a:t> </a:t>
            </a:r>
            <a:r>
              <a:rPr lang="ru-RU" b="1" dirty="0" smtClean="0"/>
              <a:t>SET</a:t>
            </a:r>
            <a:r>
              <a:rPr lang="ru-RU" dirty="0" smtClean="0"/>
              <a:t> {</a:t>
            </a:r>
            <a:r>
              <a:rPr lang="ru-RU" dirty="0" err="1" smtClean="0"/>
              <a:t>имя_столбца=</a:t>
            </a:r>
            <a:r>
              <a:rPr lang="ru-RU" dirty="0" smtClean="0"/>
              <a:t>{ DEFAULT | NULL | выражение}}[,...</a:t>
            </a:r>
            <a:r>
              <a:rPr lang="ru-RU" dirty="0" err="1" smtClean="0"/>
              <a:t>n</a:t>
            </a:r>
            <a:r>
              <a:rPr lang="ru-RU" dirty="0" smtClean="0"/>
              <a:t>] </a:t>
            </a:r>
            <a:r>
              <a:rPr lang="ru-RU" b="1" dirty="0" smtClean="0"/>
              <a:t>WHERE CURRENT OF </a:t>
            </a:r>
            <a:r>
              <a:rPr lang="ru-RU" dirty="0" smtClean="0"/>
              <a:t>{{[GLOBAL] </a:t>
            </a:r>
            <a:r>
              <a:rPr lang="ru-RU" dirty="0" err="1" smtClean="0"/>
              <a:t>имя_курсора</a:t>
            </a:r>
            <a:r>
              <a:rPr lang="ru-RU" dirty="0" smtClean="0"/>
              <a:t>} </a:t>
            </a:r>
            <a:r>
              <a:rPr lang="ru-RU" dirty="0" err="1" smtClean="0"/>
              <a:t>|@имя_переменной_курсора</a:t>
            </a:r>
            <a:r>
              <a:rPr lang="ru-RU" dirty="0" smtClean="0"/>
              <a:t>}</a:t>
            </a:r>
            <a:endParaRPr lang="en-US" dirty="0" smtClean="0"/>
          </a:p>
          <a:p>
            <a:endParaRPr lang="ru-RU" dirty="0" smtClean="0"/>
          </a:p>
          <a:p>
            <a:r>
              <a:rPr lang="ru-RU" dirty="0" smtClean="0"/>
              <a:t>За одну операцию могут быть изменены несколько столбцов текущей строки </a:t>
            </a:r>
            <a:r>
              <a:rPr lang="ru-RU" i="1" dirty="0" smtClean="0"/>
              <a:t>курсора</a:t>
            </a:r>
            <a:r>
              <a:rPr lang="ru-RU" dirty="0" smtClean="0"/>
              <a:t>, но все они должны принадлежать одной таблице.</a:t>
            </a:r>
          </a:p>
          <a:p>
            <a:endParaRPr lang="en-US" dirty="0" smtClean="0"/>
          </a:p>
          <a:p>
            <a:r>
              <a:rPr lang="ru-RU" dirty="0" smtClean="0"/>
              <a:t>Для удаления данных посредством </a:t>
            </a:r>
            <a:r>
              <a:rPr lang="ru-RU" i="1" dirty="0" smtClean="0"/>
              <a:t>курсора</a:t>
            </a:r>
            <a:r>
              <a:rPr lang="ru-RU" dirty="0" smtClean="0"/>
              <a:t> используется команда DELETE в следующем формате:</a:t>
            </a:r>
            <a:endParaRPr lang="en-US" dirty="0" smtClean="0"/>
          </a:p>
          <a:p>
            <a:endParaRPr lang="ru-RU" dirty="0" smtClean="0"/>
          </a:p>
          <a:p>
            <a:r>
              <a:rPr lang="ru-RU" b="1" dirty="0" smtClean="0"/>
              <a:t>DELETE</a:t>
            </a:r>
            <a:r>
              <a:rPr lang="ru-RU" dirty="0" smtClean="0"/>
              <a:t> </a:t>
            </a:r>
            <a:r>
              <a:rPr lang="ru-RU" dirty="0" err="1" smtClean="0"/>
              <a:t>имя_таблицы</a:t>
            </a:r>
            <a:r>
              <a:rPr lang="ru-RU" dirty="0" smtClean="0"/>
              <a:t> </a:t>
            </a:r>
            <a:r>
              <a:rPr lang="ru-RU" b="1" dirty="0" smtClean="0"/>
              <a:t>WHERE CURRENT OF </a:t>
            </a:r>
            <a:r>
              <a:rPr lang="ru-RU" dirty="0" smtClean="0"/>
              <a:t>{{[GLOBAL] </a:t>
            </a:r>
            <a:r>
              <a:rPr lang="ru-RU" dirty="0" err="1" smtClean="0"/>
              <a:t>имя_курсора</a:t>
            </a:r>
            <a:r>
              <a:rPr lang="ru-RU" dirty="0" smtClean="0"/>
              <a:t>} </a:t>
            </a:r>
            <a:r>
              <a:rPr lang="ru-RU" dirty="0" err="1" smtClean="0"/>
              <a:t>|@имя_переменной_курсора</a:t>
            </a:r>
            <a:r>
              <a:rPr lang="ru-RU" dirty="0" smtClean="0"/>
              <a:t>}</a:t>
            </a:r>
            <a:endParaRPr lang="en-US" dirty="0" smtClean="0"/>
          </a:p>
          <a:p>
            <a:endParaRPr lang="ru-RU" dirty="0" smtClean="0"/>
          </a:p>
          <a:p>
            <a:r>
              <a:rPr lang="ru-RU" dirty="0" smtClean="0"/>
              <a:t>В результате будет удалена строка, установленная текущей в </a:t>
            </a:r>
            <a:r>
              <a:rPr lang="ru-RU" i="1" dirty="0" smtClean="0"/>
              <a:t>курсоре</a:t>
            </a:r>
            <a:r>
              <a:rPr lang="ru-RU" dirty="0" smtClean="0"/>
              <a:t>.</a:t>
            </a:r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17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144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1066800"/>
            <a:ext cx="84582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Разработать </a:t>
            </a:r>
            <a:r>
              <a:rPr lang="ru-RU" i="1" dirty="0" smtClean="0"/>
              <a:t>прокручиваемый курсор</a:t>
            </a:r>
            <a:r>
              <a:rPr lang="ru-RU" dirty="0" smtClean="0"/>
              <a:t> для клиентов из Москвы. Если номер телефона начинается на 1, удалить клиента с таким номером, а затем  в первой записи курсора заменить первую цифру в номере телефона на 4.</a:t>
            </a:r>
            <a:endParaRPr lang="en-US" dirty="0" smtClean="0"/>
          </a:p>
          <a:p>
            <a:endParaRPr lang="ru-RU" dirty="0" smtClean="0"/>
          </a:p>
          <a:p>
            <a:r>
              <a:rPr lang="en-US" dirty="0" smtClean="0"/>
              <a:t>DECLARE</a:t>
            </a:r>
          </a:p>
          <a:p>
            <a:r>
              <a:rPr lang="en-US" dirty="0" smtClean="0"/>
              <a:t>	 @firm VARCHAR(50), </a:t>
            </a:r>
          </a:p>
          <a:p>
            <a:r>
              <a:rPr lang="en-US" dirty="0" smtClean="0"/>
              <a:t>	@</a:t>
            </a:r>
            <a:r>
              <a:rPr lang="en-US" dirty="0" err="1" smtClean="0"/>
              <a:t>fam</a:t>
            </a:r>
            <a:r>
              <a:rPr lang="en-US" dirty="0" smtClean="0"/>
              <a:t> VARCHAR(50), </a:t>
            </a:r>
          </a:p>
          <a:p>
            <a:r>
              <a:rPr lang="en-US" dirty="0" smtClean="0"/>
              <a:t>	@</a:t>
            </a:r>
            <a:r>
              <a:rPr lang="en-US" dirty="0" err="1" smtClean="0"/>
              <a:t>tel</a:t>
            </a:r>
            <a:r>
              <a:rPr lang="en-US" dirty="0" smtClean="0"/>
              <a:t> VARCHAR(8), </a:t>
            </a:r>
          </a:p>
          <a:p>
            <a:r>
              <a:rPr lang="en-US" dirty="0" smtClean="0"/>
              <a:t>	@message VARCHAR(80) </a:t>
            </a:r>
          </a:p>
          <a:p>
            <a:r>
              <a:rPr lang="en-US" dirty="0" smtClean="0"/>
              <a:t>PRINT ' </a:t>
            </a:r>
            <a:r>
              <a:rPr lang="ru-RU" dirty="0" smtClean="0"/>
              <a:t>Список клиентов‘</a:t>
            </a:r>
            <a:endParaRPr lang="en-US" dirty="0" smtClean="0"/>
          </a:p>
          <a:p>
            <a:endParaRPr lang="en-US" dirty="0" smtClean="0"/>
          </a:p>
          <a:p>
            <a:r>
              <a:rPr lang="ru-RU" dirty="0" smtClean="0"/>
              <a:t> </a:t>
            </a:r>
            <a:r>
              <a:rPr lang="en-US" dirty="0" smtClean="0"/>
              <a:t>DECLARE </a:t>
            </a:r>
            <a:r>
              <a:rPr lang="en-US" dirty="0" err="1" smtClean="0"/>
              <a:t>klient_cursor</a:t>
            </a:r>
            <a:r>
              <a:rPr lang="en-US" dirty="0" smtClean="0"/>
              <a:t> CURSOR GLOBAL SCROLL KEYSET </a:t>
            </a:r>
          </a:p>
          <a:p>
            <a:r>
              <a:rPr lang="en-US" dirty="0" smtClean="0"/>
              <a:t>    FOR </a:t>
            </a:r>
          </a:p>
          <a:p>
            <a:r>
              <a:rPr lang="en-US" dirty="0" smtClean="0"/>
              <a:t>	SELECT </a:t>
            </a:r>
            <a:r>
              <a:rPr lang="ru-RU" dirty="0" smtClean="0"/>
              <a:t>Фирма, Фамилия, Телефон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en-US" dirty="0" smtClean="0"/>
              <a:t>	FROM </a:t>
            </a:r>
            <a:r>
              <a:rPr lang="ru-RU" dirty="0" smtClean="0"/>
              <a:t>Клиент </a:t>
            </a:r>
            <a:endParaRPr lang="en-US" dirty="0" smtClean="0"/>
          </a:p>
          <a:p>
            <a:r>
              <a:rPr lang="en-US" dirty="0" smtClean="0"/>
              <a:t>	WHERE </a:t>
            </a:r>
            <a:r>
              <a:rPr lang="ru-RU" dirty="0" err="1" smtClean="0"/>
              <a:t>Город='Москва</a:t>
            </a:r>
            <a:r>
              <a:rPr lang="ru-RU" dirty="0" smtClean="0"/>
              <a:t>' </a:t>
            </a:r>
            <a:endParaRPr lang="en-US" dirty="0" smtClean="0"/>
          </a:p>
          <a:p>
            <a:r>
              <a:rPr lang="en-US" dirty="0" smtClean="0"/>
              <a:t>	ORDER BY </a:t>
            </a:r>
            <a:r>
              <a:rPr lang="ru-RU" dirty="0" smtClean="0"/>
              <a:t>Фирма, Фамилия </a:t>
            </a:r>
            <a:endParaRPr lang="en-US" dirty="0" smtClean="0"/>
          </a:p>
          <a:p>
            <a:r>
              <a:rPr lang="en-US" dirty="0" smtClean="0"/>
              <a:t>	FOR UPDATE </a:t>
            </a:r>
          </a:p>
          <a:p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18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144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1066800"/>
            <a:ext cx="8458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Разработать </a:t>
            </a:r>
            <a:r>
              <a:rPr lang="ru-RU" i="1" dirty="0"/>
              <a:t>прокручиваемый курсор</a:t>
            </a:r>
            <a:r>
              <a:rPr lang="ru-RU" dirty="0"/>
              <a:t> для клиентов из Москвы. Если номер телефона начинается на 1, удалить клиента с таким номером, а затем  в первой записи курсора заменить первую цифру в номере телефона на 4.</a:t>
            </a:r>
            <a:endParaRPr lang="en-US" dirty="0"/>
          </a:p>
          <a:p>
            <a:endParaRPr lang="ru-RU" dirty="0" smtClean="0"/>
          </a:p>
          <a:p>
            <a:r>
              <a:rPr lang="en-US" dirty="0" smtClean="0"/>
              <a:t>OPEN </a:t>
            </a:r>
            <a:r>
              <a:rPr lang="en-US" dirty="0" err="1" smtClean="0"/>
              <a:t>klient_cursor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FETCH NEXT FROM </a:t>
            </a:r>
            <a:r>
              <a:rPr lang="en-US" dirty="0" err="1" smtClean="0"/>
              <a:t>klient_cursor</a:t>
            </a:r>
            <a:r>
              <a:rPr lang="en-US" dirty="0" smtClean="0"/>
              <a:t> INTO @firm, @</a:t>
            </a:r>
            <a:r>
              <a:rPr lang="en-US" dirty="0" err="1" smtClean="0"/>
              <a:t>fam</a:t>
            </a:r>
            <a:r>
              <a:rPr lang="en-US" dirty="0" smtClean="0"/>
              <a:t>, @</a:t>
            </a:r>
            <a:r>
              <a:rPr lang="en-US" dirty="0" err="1" smtClean="0"/>
              <a:t>tel</a:t>
            </a:r>
            <a:r>
              <a:rPr lang="en-US" dirty="0" smtClean="0"/>
              <a:t> </a:t>
            </a:r>
          </a:p>
          <a:p>
            <a:r>
              <a:rPr lang="en-US" dirty="0" smtClean="0"/>
              <a:t>WHILE @@FETCH_STATUS=0 </a:t>
            </a:r>
          </a:p>
          <a:p>
            <a:r>
              <a:rPr lang="en-US" dirty="0" smtClean="0"/>
              <a:t>BEGIN </a:t>
            </a:r>
          </a:p>
          <a:p>
            <a:r>
              <a:rPr lang="en-US" dirty="0" smtClean="0"/>
              <a:t>	SELECT @message='</a:t>
            </a:r>
            <a:r>
              <a:rPr lang="ru-RU" dirty="0" smtClean="0"/>
              <a:t>Клиент '+@</a:t>
            </a:r>
            <a:r>
              <a:rPr lang="en-US" dirty="0" err="1" smtClean="0"/>
              <a:t>fam</a:t>
            </a:r>
            <a:r>
              <a:rPr lang="en-US" dirty="0" smtClean="0"/>
              <a:t>+ ' </a:t>
            </a:r>
            <a:r>
              <a:rPr lang="ru-RU" dirty="0" smtClean="0"/>
              <a:t>Фирма '+@</a:t>
            </a:r>
            <a:r>
              <a:rPr lang="en-US" dirty="0" smtClean="0"/>
              <a:t>firm ' </a:t>
            </a:r>
            <a:r>
              <a:rPr lang="ru-RU" dirty="0" smtClean="0"/>
              <a:t>Телефон '+ @</a:t>
            </a:r>
            <a:r>
              <a:rPr lang="en-US" dirty="0" err="1" smtClean="0"/>
              <a:t>tel</a:t>
            </a:r>
            <a:r>
              <a:rPr lang="en-US" dirty="0" smtClean="0"/>
              <a:t> </a:t>
            </a:r>
          </a:p>
          <a:p>
            <a:r>
              <a:rPr lang="en-US" dirty="0" smtClean="0"/>
              <a:t>	PRINT @message</a:t>
            </a:r>
          </a:p>
          <a:p>
            <a:r>
              <a:rPr lang="en-US" dirty="0" smtClean="0"/>
              <a:t> -- </a:t>
            </a:r>
            <a:r>
              <a:rPr lang="ru-RU" dirty="0" smtClean="0"/>
              <a:t>если номер телефона начинается на 1,  удалить клиента с таким номером </a:t>
            </a:r>
            <a:endParaRPr lang="en-US" dirty="0" smtClean="0"/>
          </a:p>
          <a:p>
            <a:r>
              <a:rPr lang="en-US" dirty="0" smtClean="0"/>
              <a:t>	IF @</a:t>
            </a:r>
            <a:r>
              <a:rPr lang="en-US" dirty="0" err="1" smtClean="0"/>
              <a:t>tel</a:t>
            </a:r>
            <a:r>
              <a:rPr lang="en-US" dirty="0" smtClean="0"/>
              <a:t> LIKE ‘1%’ </a:t>
            </a:r>
          </a:p>
          <a:p>
            <a:r>
              <a:rPr lang="en-US" dirty="0" smtClean="0"/>
              <a:t>	DELETE </a:t>
            </a:r>
            <a:r>
              <a:rPr lang="ru-RU" dirty="0" smtClean="0"/>
              <a:t>Клиент </a:t>
            </a:r>
            <a:r>
              <a:rPr lang="en-US" dirty="0" smtClean="0"/>
              <a:t>WHERE CURRENT OF </a:t>
            </a:r>
            <a:r>
              <a:rPr lang="en-US" dirty="0" err="1" smtClean="0"/>
              <a:t>klient_cursor</a:t>
            </a:r>
            <a:endParaRPr lang="en-US" dirty="0" smtClean="0"/>
          </a:p>
          <a:p>
            <a:r>
              <a:rPr lang="en-US" dirty="0" smtClean="0"/>
              <a:t> -- </a:t>
            </a:r>
            <a:r>
              <a:rPr lang="ru-RU" dirty="0" smtClean="0"/>
              <a:t>переход к следующему клиенту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en-US" dirty="0" smtClean="0"/>
              <a:t>FETCH NEXT FROM </a:t>
            </a:r>
            <a:r>
              <a:rPr lang="en-US" dirty="0" err="1" smtClean="0"/>
              <a:t>klient_cursor</a:t>
            </a:r>
            <a:r>
              <a:rPr lang="en-US" dirty="0" smtClean="0"/>
              <a:t> INTO @firm, @</a:t>
            </a:r>
            <a:r>
              <a:rPr lang="en-US" dirty="0" err="1" smtClean="0"/>
              <a:t>fam</a:t>
            </a:r>
            <a:r>
              <a:rPr lang="en-US" dirty="0" smtClean="0"/>
              <a:t>, @</a:t>
            </a:r>
            <a:r>
              <a:rPr lang="en-US" dirty="0" err="1" smtClean="0"/>
              <a:t>tel</a:t>
            </a:r>
            <a:r>
              <a:rPr lang="en-US" dirty="0" smtClean="0"/>
              <a:t> </a:t>
            </a:r>
          </a:p>
          <a:p>
            <a:r>
              <a:rPr lang="en-US" dirty="0" smtClean="0"/>
              <a:t>END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19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144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457200" y="1066800"/>
            <a:ext cx="8458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Разработать </a:t>
            </a:r>
            <a:r>
              <a:rPr lang="ru-RU" i="1" dirty="0"/>
              <a:t>прокручиваемый курсор</a:t>
            </a:r>
            <a:r>
              <a:rPr lang="ru-RU" dirty="0"/>
              <a:t> для клиентов из Москвы. Если номер телефона начинается на 1, удалить клиента с таким номером, а затем  в первой записи курсора заменить первую цифру в номере телефона на 4.</a:t>
            </a:r>
            <a:endParaRPr lang="en-US" dirty="0"/>
          </a:p>
          <a:p>
            <a:endParaRPr lang="ru-RU" dirty="0" smtClean="0"/>
          </a:p>
          <a:p>
            <a:r>
              <a:rPr lang="en-US" dirty="0" smtClean="0"/>
              <a:t>FETCH ABSOLUTE 1 FROM </a:t>
            </a:r>
            <a:r>
              <a:rPr lang="en-US" dirty="0" err="1" smtClean="0"/>
              <a:t>klient_cursor</a:t>
            </a:r>
            <a:r>
              <a:rPr lang="en-US" dirty="0" smtClean="0"/>
              <a:t> INTO @firm, @</a:t>
            </a:r>
            <a:r>
              <a:rPr lang="en-US" dirty="0" err="1" smtClean="0"/>
              <a:t>fam</a:t>
            </a:r>
            <a:r>
              <a:rPr lang="en-US" dirty="0" smtClean="0"/>
              <a:t>, @</a:t>
            </a:r>
            <a:r>
              <a:rPr lang="en-US" dirty="0" err="1" smtClean="0"/>
              <a:t>tel</a:t>
            </a:r>
            <a:r>
              <a:rPr lang="en-US" dirty="0" smtClean="0"/>
              <a:t> </a:t>
            </a:r>
          </a:p>
          <a:p>
            <a:r>
              <a:rPr lang="en-US" dirty="0" smtClean="0"/>
              <a:t>-- </a:t>
            </a:r>
            <a:r>
              <a:rPr lang="ru-RU" dirty="0" smtClean="0"/>
              <a:t>в первой записи заменить первую цифру в номере телефона на 4 </a:t>
            </a:r>
            <a:endParaRPr lang="en-US" dirty="0" smtClean="0"/>
          </a:p>
          <a:p>
            <a:r>
              <a:rPr lang="en-US" dirty="0" smtClean="0"/>
              <a:t>IF @@FETCH_STATUS=0</a:t>
            </a:r>
          </a:p>
          <a:p>
            <a:r>
              <a:rPr lang="en-US" dirty="0" smtClean="0"/>
              <a:t>begin</a:t>
            </a:r>
          </a:p>
          <a:p>
            <a:r>
              <a:rPr lang="en-US" dirty="0" smtClean="0"/>
              <a:t>	UPDATE </a:t>
            </a:r>
            <a:r>
              <a:rPr lang="ru-RU" dirty="0" smtClean="0"/>
              <a:t>Клиент</a:t>
            </a:r>
            <a:endParaRPr lang="en-US" dirty="0" smtClean="0"/>
          </a:p>
          <a:p>
            <a:r>
              <a:rPr lang="ru-RU" dirty="0" smtClean="0"/>
              <a:t> </a:t>
            </a:r>
            <a:r>
              <a:rPr lang="en-US" dirty="0" smtClean="0"/>
              <a:t>	SET </a:t>
            </a:r>
            <a:r>
              <a:rPr lang="ru-RU" dirty="0" smtClean="0"/>
              <a:t>Телефон=’4’ + </a:t>
            </a:r>
            <a:r>
              <a:rPr lang="en-US" dirty="0" smtClean="0"/>
              <a:t>RIGHT(@</a:t>
            </a:r>
            <a:r>
              <a:rPr lang="en-US" dirty="0" err="1" smtClean="0"/>
              <a:t>tel,LEN</a:t>
            </a:r>
            <a:r>
              <a:rPr lang="en-US" dirty="0" smtClean="0"/>
              <a:t>(@</a:t>
            </a:r>
            <a:r>
              <a:rPr lang="en-US" dirty="0" err="1" smtClean="0"/>
              <a:t>tel</a:t>
            </a:r>
            <a:r>
              <a:rPr lang="en-US" dirty="0" smtClean="0"/>
              <a:t>)-1)) </a:t>
            </a:r>
          </a:p>
          <a:p>
            <a:r>
              <a:rPr lang="en-US" dirty="0" smtClean="0"/>
              <a:t>	WHERE CURRENT OF </a:t>
            </a:r>
            <a:r>
              <a:rPr lang="en-US" dirty="0" err="1" smtClean="0"/>
              <a:t>klient_cursor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	SELECT @message='</a:t>
            </a:r>
            <a:r>
              <a:rPr lang="ru-RU" dirty="0" smtClean="0"/>
              <a:t>Клиент '+@</a:t>
            </a:r>
            <a:r>
              <a:rPr lang="en-US" dirty="0" err="1" smtClean="0"/>
              <a:t>fam</a:t>
            </a:r>
            <a:r>
              <a:rPr lang="en-US" dirty="0" smtClean="0"/>
              <a:t>+' </a:t>
            </a:r>
            <a:r>
              <a:rPr lang="ru-RU" dirty="0" smtClean="0"/>
              <a:t>Фирма '+ @</a:t>
            </a:r>
            <a:r>
              <a:rPr lang="en-US" dirty="0" smtClean="0"/>
              <a:t>firm +' </a:t>
            </a:r>
            <a:r>
              <a:rPr lang="ru-RU" dirty="0" smtClean="0"/>
              <a:t>Телефон '+ @</a:t>
            </a:r>
            <a:r>
              <a:rPr lang="en-US" dirty="0" err="1" smtClean="0"/>
              <a:t>tel</a:t>
            </a:r>
            <a:r>
              <a:rPr lang="en-US" dirty="0" smtClean="0"/>
              <a:t> </a:t>
            </a:r>
          </a:p>
          <a:p>
            <a:r>
              <a:rPr lang="en-US" dirty="0" smtClean="0"/>
              <a:t>	PRINT @message </a:t>
            </a:r>
          </a:p>
          <a:p>
            <a:r>
              <a:rPr lang="en-US" dirty="0" smtClean="0"/>
              <a:t>end</a:t>
            </a:r>
          </a:p>
          <a:p>
            <a:r>
              <a:rPr lang="en-US" dirty="0" smtClean="0"/>
              <a:t>CLOSE </a:t>
            </a:r>
            <a:r>
              <a:rPr lang="en-US" dirty="0" err="1" smtClean="0"/>
              <a:t>klient_cursor</a:t>
            </a:r>
            <a:r>
              <a:rPr lang="en-US" dirty="0" smtClean="0"/>
              <a:t> </a:t>
            </a:r>
          </a:p>
          <a:p>
            <a:r>
              <a:rPr lang="en-US" dirty="0" smtClean="0"/>
              <a:t>DEALLOCATE </a:t>
            </a:r>
            <a:r>
              <a:rPr lang="en-US" dirty="0" err="1" smtClean="0"/>
              <a:t>klient_cursor</a:t>
            </a:r>
            <a:endParaRPr lang="en-US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152400"/>
            <a:ext cx="3352800" cy="651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3379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7925906" cy="4582164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3886200"/>
            <a:ext cx="2895600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685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2400"/>
            <a:ext cx="6154009" cy="65445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172200" y="381000"/>
            <a:ext cx="28956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chemeClr val="accent2">
                    <a:lumMod val="75000"/>
                  </a:schemeClr>
                </a:solidFill>
              </a:rPr>
              <a:t>Как сделать резервную копию всех баз данных SQL </a:t>
            </a:r>
            <a:r>
              <a:rPr lang="ru-RU" dirty="0" err="1" smtClean="0">
                <a:solidFill>
                  <a:schemeClr val="accent2">
                    <a:lumMod val="75000"/>
                  </a:schemeClr>
                </a:solidFill>
              </a:rPr>
              <a:t>Server</a:t>
            </a:r>
            <a:endParaRPr lang="en-US" dirty="0" smtClean="0">
              <a:solidFill>
                <a:schemeClr val="accent2">
                  <a:lumMod val="75000"/>
                </a:schemeClr>
              </a:solidFill>
            </a:endParaRPr>
          </a:p>
          <a:p>
            <a:endParaRPr lang="en-US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ru-RU" dirty="0"/>
              <a:t>Формат имени файла резервной копии базы данных </a:t>
            </a:r>
            <a:r>
              <a:rPr lang="ru-RU" dirty="0" err="1"/>
              <a:t>DBname_YYYYMMDD.BAK</a:t>
            </a:r>
            <a:endParaRPr lang="ru-RU" dirty="0"/>
          </a:p>
          <a:p>
            <a:endParaRPr lang="ru-RU" dirty="0">
              <a:solidFill>
                <a:schemeClr val="accent2">
                  <a:lumMod val="75000"/>
                </a:schemeClr>
              </a:solidFill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539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457200"/>
            <a:ext cx="87630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solidFill>
                  <a:schemeClr val="accent2">
                    <a:lumMod val="75000"/>
                  </a:schemeClr>
                </a:solidFill>
              </a:rPr>
              <a:t>Как написать курсор в SQL </a:t>
            </a:r>
            <a:r>
              <a:rPr lang="ru-RU" sz="2400" dirty="0" err="1">
                <a:solidFill>
                  <a:schemeClr val="accent2">
                    <a:lumMod val="75000"/>
                  </a:schemeClr>
                </a:solidFill>
              </a:rPr>
              <a:t>Server</a:t>
            </a:r>
            <a:endParaRPr lang="ru-RU" sz="2400" dirty="0">
              <a:solidFill>
                <a:schemeClr val="accent2">
                  <a:lumMod val="75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Объявите </a:t>
            </a:r>
            <a:r>
              <a:rPr lang="ru-RU" dirty="0"/>
              <a:t>свои переменные (имена файлов, имена баз данных, номера счетов и т. д.), которые вам нужны в логике, и инициализируйте переменные.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Объявите </a:t>
            </a:r>
            <a:r>
              <a:rPr lang="ru-RU" dirty="0"/>
              <a:t>курсор с определенным именем (например, </a:t>
            </a:r>
            <a:r>
              <a:rPr lang="ru-RU" dirty="0" err="1" smtClean="0"/>
              <a:t>db_cursor</a:t>
            </a:r>
            <a:r>
              <a:rPr lang="ru-RU" dirty="0" smtClean="0"/>
              <a:t>), </a:t>
            </a:r>
            <a:r>
              <a:rPr lang="ru-RU" dirty="0"/>
              <a:t>которое вы будете использовать во всей логике вместе с бизнес-логикой (оператор SELECT) для заполнения записей, которые потребуются курсору. Имя курсора может быть любым значащим. Сразу после этого открывается курсор.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Выбрать </a:t>
            </a:r>
            <a:r>
              <a:rPr lang="ru-RU" dirty="0"/>
              <a:t>запись из курсора, чтобы начать обработку данных.</a:t>
            </a:r>
          </a:p>
          <a:p>
            <a:pPr lvl="1"/>
            <a:r>
              <a:rPr lang="ru-RU" b="1" dirty="0"/>
              <a:t>ПРИМЕЧАНИЕ.</a:t>
            </a:r>
            <a:r>
              <a:rPr lang="ru-RU" dirty="0"/>
              <a:t> </a:t>
            </a:r>
            <a:r>
              <a:rPr lang="ru-RU" dirty="0" smtClean="0"/>
              <a:t>Важно использовать </a:t>
            </a:r>
            <a:r>
              <a:rPr lang="ru-RU" dirty="0"/>
              <a:t>равное количество переменных, объявленных для курсора, столбцов в операторе SELECT и переменных в логике выборки. </a:t>
            </a:r>
            <a:endParaRPr lang="ru-RU" dirty="0" smtClean="0"/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Процесс обработки данных уникален для каждого набора логики. Это может быть вставка, обновление, удаление и т. д. для каждой строки извлеченных данных. Это самый важный набор логики во время этого процесса, который выполняется для каждой строки.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 smtClean="0"/>
              <a:t>Извлеките </a:t>
            </a:r>
            <a:r>
              <a:rPr lang="ru-RU" dirty="0"/>
              <a:t>следующую запись из курсора, как вы делали на шаге 3, а затем снова повторите шаг 4, обрабатывая выбранные данные.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Как только все данные будут обработаны, вы закроете курсор.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/>
              <a:t>В качестве последнего и важного шага вам необходимо освободить курсор, чтобы освободить все внутренние ресурсы, удерживаемые SQL </a:t>
            </a:r>
            <a:r>
              <a:rPr lang="ru-RU" dirty="0" err="1"/>
              <a:t>Server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619765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71600"/>
            <a:ext cx="4544059" cy="43630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81000" y="457200"/>
            <a:ext cx="78486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>
                <a:solidFill>
                  <a:schemeClr val="accent2">
                    <a:lumMod val="75000"/>
                  </a:schemeClr>
                </a:solidFill>
              </a:rPr>
              <a:t>Альтернатива курсору SQL </a:t>
            </a:r>
            <a:r>
              <a:rPr lang="ru-RU" sz="2800" dirty="0" err="1">
                <a:solidFill>
                  <a:schemeClr val="accent2">
                    <a:lumMod val="75000"/>
                  </a:schemeClr>
                </a:solidFill>
              </a:rPr>
              <a:t>Server</a:t>
            </a:r>
            <a:r>
              <a:rPr lang="ru-RU" sz="2800" dirty="0">
                <a:solidFill>
                  <a:schemeClr val="accent2">
                    <a:lumMod val="75000"/>
                  </a:schemeClr>
                </a:solidFill>
              </a:rPr>
              <a:t> с циклом WHILE</a:t>
            </a:r>
          </a:p>
          <a:p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381000" y="6019800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Преимущество использования цикла WHILE заключается в том, что для облегчения цикла не требуется создавать объекты в памяти.</a:t>
            </a:r>
          </a:p>
        </p:txBody>
      </p:sp>
    </p:spTree>
    <p:extLst>
      <p:ext uri="{BB962C8B-B14F-4D97-AF65-F5344CB8AC3E}">
        <p14:creationId xmlns:p14="http://schemas.microsoft.com/office/powerpoint/2010/main" val="4581752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25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304800" y="990600"/>
            <a:ext cx="83820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Хранимые процедуры (</a:t>
            </a:r>
            <a:r>
              <a:rPr lang="ru-RU" sz="2400" b="1" i="1" dirty="0" smtClean="0"/>
              <a:t>Stored procedure</a:t>
            </a:r>
            <a:r>
              <a:rPr lang="ru-RU" sz="2400" dirty="0" smtClean="0"/>
              <a:t>) представляют собой набор команд, состоящий из одного или нескольких операторов SQL или функций и сохраняемый в базе данных в откомпилированном виде. </a:t>
            </a:r>
          </a:p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" y="2514600"/>
            <a:ext cx="84582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000" dirty="0" smtClean="0"/>
              <a:t>Преимущества использования:</a:t>
            </a:r>
          </a:p>
          <a:p>
            <a:pPr lvl="0">
              <a:buFont typeface="Wingdings" pitchFamily="2" charset="2"/>
              <a:buChar char="§"/>
            </a:pPr>
            <a:endParaRPr lang="en-US" sz="2000" dirty="0" smtClean="0"/>
          </a:p>
          <a:p>
            <a:pPr lvl="0">
              <a:buFont typeface="Wingdings" pitchFamily="2" charset="2"/>
              <a:buChar char="§"/>
            </a:pPr>
            <a:r>
              <a:rPr lang="ru-RU" sz="2000" dirty="0" smtClean="0"/>
              <a:t>необходимые операторы уже содержатся в базе данных;</a:t>
            </a:r>
          </a:p>
          <a:p>
            <a:pPr>
              <a:buFont typeface="Wingdings" pitchFamily="2" charset="2"/>
              <a:buChar char="§"/>
            </a:pPr>
            <a:r>
              <a:rPr lang="ru-RU" sz="2000" dirty="0" smtClean="0"/>
              <a:t>как правило, хранимые процедуры выполняются быстрее</a:t>
            </a:r>
            <a:r>
              <a:rPr lang="en-US" sz="2000" dirty="0" smtClean="0"/>
              <a:t>;</a:t>
            </a:r>
            <a:r>
              <a:rPr lang="ru-RU" sz="2000" dirty="0" smtClean="0"/>
              <a:t> </a:t>
            </a:r>
            <a:endParaRPr lang="en-US" sz="2000" dirty="0" smtClean="0"/>
          </a:p>
          <a:p>
            <a:pPr>
              <a:buFont typeface="Wingdings" pitchFamily="2" charset="2"/>
              <a:buChar char="§"/>
            </a:pPr>
            <a:r>
              <a:rPr lang="ru-RU" sz="2000" dirty="0" smtClean="0"/>
              <a:t>хранимые процедуры поддерживают модульное программирование</a:t>
            </a:r>
            <a:r>
              <a:rPr lang="en-US" sz="2000" dirty="0" smtClean="0"/>
              <a:t>;</a:t>
            </a:r>
          </a:p>
          <a:p>
            <a:pPr lvl="0">
              <a:buFont typeface="Wingdings" pitchFamily="2" charset="2"/>
              <a:buChar char="§"/>
            </a:pPr>
            <a:r>
              <a:rPr lang="ru-RU" sz="2000" dirty="0" smtClean="0"/>
              <a:t>хранимые процедуры могут вызывать другие хранимые процедуры и функции и могут быть вызваны из прикладных программ других типов;</a:t>
            </a:r>
          </a:p>
          <a:p>
            <a:pPr>
              <a:buFont typeface="Wingdings" pitchFamily="2" charset="2"/>
              <a:buChar char="§"/>
            </a:pPr>
            <a:r>
              <a:rPr lang="ru-RU" sz="2000" dirty="0" smtClean="0"/>
              <a:t>хранимые процедуры проще использовать: они могут состоять из десятков и сотен команд, но для их запуска достаточно указать всего лишь имя нужной хранимой процедуры. </a:t>
            </a:r>
            <a:endParaRPr lang="ru-RU" sz="2000" dirty="0"/>
          </a:p>
        </p:txBody>
      </p:sp>
      <p:sp>
        <p:nvSpPr>
          <p:cNvPr id="15" name="TextBox 14"/>
          <p:cNvSpPr txBox="1"/>
          <p:nvPr/>
        </p:nvSpPr>
        <p:spPr>
          <a:xfrm>
            <a:off x="304800" y="5791200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Применение хранимых процедур упрощает сопровождение программных комплексов и внесение изменений в них. 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457200"/>
            <a:ext cx="8534400" cy="63401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Существует четыре типа хранимых </a:t>
            </a:r>
            <a:r>
              <a:rPr lang="ru-RU" sz="2800" dirty="0" smtClean="0"/>
              <a:t>процедур: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i="1" dirty="0" smtClean="0"/>
              <a:t>Определяемые </a:t>
            </a:r>
            <a:r>
              <a:rPr lang="ru-RU" b="1" i="1" dirty="0"/>
              <a:t>пользователем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i="1" dirty="0" smtClean="0"/>
              <a:t>Временные </a:t>
            </a:r>
            <a:r>
              <a:rPr lang="ru-RU" b="1" i="1" dirty="0"/>
              <a:t>хранимые процедуры </a:t>
            </a:r>
            <a:r>
              <a:rPr lang="ru-RU" b="1" i="1" dirty="0" smtClean="0"/>
              <a:t/>
            </a:r>
            <a:br>
              <a:rPr lang="ru-RU" b="1" i="1" dirty="0" smtClean="0"/>
            </a:br>
            <a:r>
              <a:rPr lang="ru-RU" dirty="0" err="1"/>
              <a:t>П</a:t>
            </a:r>
            <a:r>
              <a:rPr lang="ru-RU" dirty="0" err="1" smtClean="0"/>
              <a:t>роцедуры</a:t>
            </a:r>
            <a:r>
              <a:rPr lang="ru-RU" dirty="0" smtClean="0"/>
              <a:t> </a:t>
            </a:r>
            <a:r>
              <a:rPr lang="ru-RU" dirty="0"/>
              <a:t>хранятся в базе данных </a:t>
            </a:r>
            <a:r>
              <a:rPr lang="ru-RU" b="1" i="1" dirty="0" err="1" smtClean="0"/>
              <a:t>tempdb</a:t>
            </a:r>
            <a:r>
              <a:rPr lang="ru-RU" dirty="0" smtClean="0"/>
              <a:t>.</a:t>
            </a:r>
            <a:r>
              <a:rPr lang="ru-RU" dirty="0"/>
              <a:t> М</a:t>
            </a:r>
            <a:r>
              <a:rPr lang="ru-RU" dirty="0" smtClean="0"/>
              <a:t>ожно </a:t>
            </a:r>
            <a:r>
              <a:rPr lang="ru-RU" dirty="0"/>
              <a:t>использовать локально или в качестве глобальной хранимой процедуры</a:t>
            </a:r>
            <a:r>
              <a:rPr lang="ru-RU" dirty="0" smtClean="0"/>
              <a:t>. </a:t>
            </a:r>
            <a:r>
              <a:rPr lang="ru-RU" dirty="0"/>
              <a:t>Временные локальные хранимые процедуры видны только текущему подключению пользователя и всегда будут иметь префикс # </a:t>
            </a:r>
            <a:r>
              <a:rPr lang="ru-RU" dirty="0" smtClean="0"/>
              <a:t>. Временные </a:t>
            </a:r>
            <a:r>
              <a:rPr lang="ru-RU" dirty="0"/>
              <a:t>глобальные хранимые процедуры видны при любом подключении пользователя и имеют префикс ## </a:t>
            </a:r>
            <a:r>
              <a:rPr lang="ru-RU" dirty="0" smtClean="0"/>
              <a:t>.</a:t>
            </a:r>
            <a:br>
              <a:rPr lang="ru-RU" dirty="0" smtClean="0"/>
            </a:br>
            <a:r>
              <a:rPr lang="ru-RU" dirty="0" smtClean="0"/>
              <a:t>Поскольку </a:t>
            </a:r>
            <a:r>
              <a:rPr lang="ru-RU" dirty="0"/>
              <a:t>они являются «временными», эти хранимые процедуры исчезнут, когда соединение SQL будет </a:t>
            </a:r>
            <a:r>
              <a:rPr lang="ru-RU" dirty="0" smtClean="0"/>
              <a:t>закрыто.</a:t>
            </a:r>
          </a:p>
          <a:p>
            <a:pPr marL="342900" indent="-342900">
              <a:buFont typeface="+mj-lt"/>
              <a:buAutoNum type="arabicPeriod"/>
            </a:pPr>
            <a:r>
              <a:rPr lang="ru-RU" b="1" i="1" dirty="0" smtClean="0"/>
              <a:t>Системные хранимые процедуры </a:t>
            </a:r>
            <a:br>
              <a:rPr lang="ru-RU" b="1" i="1" dirty="0" smtClean="0"/>
            </a:br>
            <a:r>
              <a:rPr lang="ru-RU" dirty="0" smtClean="0"/>
              <a:t>Эти </a:t>
            </a:r>
            <a:r>
              <a:rPr lang="ru-RU" dirty="0"/>
              <a:t>хранимые процедуры включены по умолчанию при установке SQL </a:t>
            </a:r>
            <a:r>
              <a:rPr lang="ru-RU" dirty="0" err="1"/>
              <a:t>Server</a:t>
            </a:r>
            <a:r>
              <a:rPr lang="ru-RU" dirty="0"/>
              <a:t> и всегда начинаются с префикса «</a:t>
            </a:r>
            <a:r>
              <a:rPr lang="ru-RU" dirty="0" err="1"/>
              <a:t>sys.sp</a:t>
            </a:r>
            <a:r>
              <a:rPr lang="ru-RU" dirty="0"/>
              <a:t>_». Некоторые из наиболее распространенных системных хранимых процедур, которые могут оказаться полезными, включают </a:t>
            </a:r>
            <a:r>
              <a:rPr lang="ru-RU" dirty="0" err="1"/>
              <a:t>sys.sp_addUser</a:t>
            </a:r>
            <a:r>
              <a:rPr lang="ru-RU" dirty="0"/>
              <a:t>, </a:t>
            </a:r>
            <a:r>
              <a:rPr lang="ru-RU" dirty="0" err="1"/>
              <a:t>sys.sp_addLogin</a:t>
            </a:r>
            <a:r>
              <a:rPr lang="ru-RU" dirty="0"/>
              <a:t>, </a:t>
            </a:r>
            <a:r>
              <a:rPr lang="ru-RU" dirty="0" err="1"/>
              <a:t>sys.sp_addRole</a:t>
            </a:r>
            <a:r>
              <a:rPr lang="ru-RU" dirty="0"/>
              <a:t>, </a:t>
            </a:r>
            <a:r>
              <a:rPr lang="ru-RU" dirty="0" err="1"/>
              <a:t>sys.sp_change_users_login</a:t>
            </a:r>
            <a:r>
              <a:rPr lang="ru-RU" dirty="0"/>
              <a:t> и т. </a:t>
            </a:r>
            <a:r>
              <a:rPr lang="ru-RU" dirty="0" smtClean="0"/>
              <a:t>д.</a:t>
            </a:r>
            <a:endParaRPr lang="ru-RU" b="1" i="1" dirty="0"/>
          </a:p>
          <a:p>
            <a:pPr marL="342900" indent="-342900">
              <a:buFont typeface="+mj-lt"/>
              <a:buAutoNum type="arabicPeriod"/>
            </a:pPr>
            <a:r>
              <a:rPr lang="ru-RU" b="1" i="1" dirty="0" smtClean="0"/>
              <a:t>Расширенные хранимые процедуры</a:t>
            </a:r>
            <a:br>
              <a:rPr lang="ru-RU" b="1" i="1" dirty="0" smtClean="0"/>
            </a:br>
            <a:r>
              <a:rPr lang="ru-RU" dirty="0" smtClean="0"/>
              <a:t>Расширенная </a:t>
            </a:r>
            <a:r>
              <a:rPr lang="ru-RU" dirty="0"/>
              <a:t>определяемая пользователем хранимая процедура используется для создания внешних подпрограмм на таких языках, как C, C#, VB и т. д. Они реализованы в виде библиотек DLL, которые SQL </a:t>
            </a:r>
            <a:r>
              <a:rPr lang="ru-RU" dirty="0" err="1"/>
              <a:t>Server</a:t>
            </a:r>
            <a:r>
              <a:rPr lang="ru-RU" dirty="0"/>
              <a:t> может загружать и запускать динамически.</a:t>
            </a:r>
            <a:endParaRPr lang="ru-RU" b="1" i="1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6911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568440" y="6492875"/>
            <a:ext cx="2133600" cy="365125"/>
          </a:xfrm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27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8" y="1176872"/>
            <a:ext cx="4906060" cy="2667372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58" y="4495800"/>
            <a:ext cx="4860340" cy="170467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7063" y="2016858"/>
            <a:ext cx="2667372" cy="3334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28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80" y="5492341"/>
            <a:ext cx="8714855" cy="1092815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080" y="1103530"/>
            <a:ext cx="6141720" cy="435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92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29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Хранимые процедуры (Stored procedure</a:t>
            </a:r>
            <a:r>
              <a:rPr lang="ru-RU" dirty="0" smtClean="0"/>
              <a:t>) 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8" y="1955253"/>
            <a:ext cx="4953000" cy="156246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4800" y="1092486"/>
            <a:ext cx="67056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/>
              <a:t>Пример хранимой процедуры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38" y="3886200"/>
            <a:ext cx="4336232" cy="7011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30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Хранимые процедуры (Stored procedure</a:t>
            </a:r>
            <a:r>
              <a:rPr lang="ru-RU" dirty="0" smtClean="0"/>
              <a:t>) 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1126272"/>
            <a:ext cx="8382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Хранимая процедура с одним параметром</a:t>
            </a:r>
          </a:p>
          <a:p>
            <a:endParaRPr lang="ru-RU" sz="2400" dirty="0" smtClean="0"/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" y="1784942"/>
            <a:ext cx="7202143" cy="149165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960" y="3706237"/>
            <a:ext cx="6781800" cy="154344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31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Хранимые процедуры (Stored procedure</a:t>
            </a:r>
            <a:r>
              <a:rPr lang="ru-RU" dirty="0" smtClean="0"/>
              <a:t>) 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457200" y="1126272"/>
            <a:ext cx="8382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/>
              <a:t>Хранимая процедура с </a:t>
            </a:r>
            <a:r>
              <a:rPr lang="ru-RU" sz="2800" dirty="0" smtClean="0"/>
              <a:t>несколькими параметрами</a:t>
            </a:r>
            <a:endParaRPr lang="ru-RU" sz="2800" dirty="0"/>
          </a:p>
          <a:p>
            <a:endParaRPr lang="ru-RU" sz="2400" dirty="0" smtClean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150" y="1973997"/>
            <a:ext cx="6878010" cy="1933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72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32</a:t>
            </a:fld>
            <a:endParaRPr lang="ru-RU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" y="257810"/>
            <a:ext cx="4686954" cy="199100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443649"/>
            <a:ext cx="6611273" cy="198147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4724102"/>
            <a:ext cx="5315692" cy="213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338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33</a:t>
            </a:fld>
            <a:endParaRPr lang="ru-RU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" y="257810"/>
            <a:ext cx="4686954" cy="1991003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726894"/>
            <a:ext cx="6019800" cy="6223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" y="3758208"/>
            <a:ext cx="6019800" cy="240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67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34</a:t>
            </a:fld>
            <a:endParaRPr lang="ru-RU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" y="257810"/>
            <a:ext cx="4686954" cy="199100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" y="2547378"/>
            <a:ext cx="6449325" cy="205768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85" y="5014595"/>
            <a:ext cx="7211315" cy="170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889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35</a:t>
            </a:fld>
            <a:endParaRPr lang="ru-RU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640" y="257810"/>
            <a:ext cx="4686954" cy="199100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" y="2547378"/>
            <a:ext cx="6449325" cy="2057687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085" y="5014595"/>
            <a:ext cx="7211315" cy="1706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248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36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Хранимые процедуры (Stored procedure</a:t>
            </a:r>
            <a:r>
              <a:rPr lang="ru-RU" dirty="0" smtClean="0"/>
              <a:t>) 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066800"/>
            <a:ext cx="838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Пример процедуры с  входным и выходным параметром. </a:t>
            </a:r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651706"/>
            <a:ext cx="6248400" cy="170211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3840717"/>
            <a:ext cx="6400800" cy="183203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37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Хранимые процедуры (Stored procedure</a:t>
            </a:r>
            <a:r>
              <a:rPr lang="ru-RU" dirty="0" smtClean="0"/>
              <a:t>) 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066800"/>
            <a:ext cx="838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Пример процедуры с  входным и выходным параметром. </a:t>
            </a:r>
          </a:p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478" y="1817131"/>
            <a:ext cx="6999922" cy="258306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6238" y="4663579"/>
            <a:ext cx="8234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 помощью глобальной переменной </a:t>
            </a:r>
            <a:r>
              <a:rPr lang="ru-RU" b="1" dirty="0"/>
              <a:t>@@IDENTITY</a:t>
            </a:r>
            <a:r>
              <a:rPr lang="ru-RU" dirty="0"/>
              <a:t> можно получить идентификатор добавленной записи.</a:t>
            </a: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160" y="5442731"/>
            <a:ext cx="5258534" cy="12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388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38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Хранимые процедуры (Stored procedure</a:t>
            </a:r>
            <a:r>
              <a:rPr lang="ru-RU" dirty="0" smtClean="0"/>
              <a:t>) 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066800"/>
            <a:ext cx="838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Пример процедуры с  входным и выходным параметром. </a:t>
            </a:r>
          </a:p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226" y="2065437"/>
            <a:ext cx="4716780" cy="1837519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800" y="4572000"/>
            <a:ext cx="3814762" cy="161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8516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39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Хранимые процедуры (Stored procedure</a:t>
            </a:r>
            <a:r>
              <a:rPr lang="ru-RU" dirty="0" smtClean="0"/>
              <a:t>) 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066800"/>
            <a:ext cx="83820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Пример процедуры с  входным и выходным параметром. </a:t>
            </a:r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" y="2328684"/>
            <a:ext cx="7459116" cy="3334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557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40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Хранимые процедуры (Stored procedure</a:t>
            </a:r>
            <a:r>
              <a:rPr lang="ru-RU" dirty="0" smtClean="0"/>
              <a:t>) 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28600" y="1066800"/>
            <a:ext cx="8382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Пример использования вложенных процедур.</a:t>
            </a:r>
          </a:p>
          <a:p>
            <a:endParaRPr lang="ru-RU" sz="2400" dirty="0" smtClean="0"/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086" y="1877199"/>
            <a:ext cx="6011114" cy="37247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41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Хранимые процедуры (Stored procedure</a:t>
            </a:r>
            <a:r>
              <a:rPr lang="ru-RU" dirty="0" smtClean="0"/>
              <a:t>) </a:t>
            </a:r>
            <a:endParaRPr lang="en-US" dirty="0" smtClean="0"/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56588" y="766483"/>
            <a:ext cx="8382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Пример использования вложенных процедур.</a:t>
            </a:r>
          </a:p>
          <a:p>
            <a:endParaRPr lang="ru-RU" sz="2400" dirty="0" smtClean="0"/>
          </a:p>
          <a:p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378383"/>
            <a:ext cx="8402223" cy="5144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379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42</a:t>
            </a:fld>
            <a:endParaRPr lang="ru-RU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533400" y="10668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256588" y="766483"/>
            <a:ext cx="8382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dirty="0" smtClean="0"/>
              <a:t>Пример использования вложенных процедур.</a:t>
            </a:r>
          </a:p>
          <a:p>
            <a:endParaRPr lang="ru-RU" sz="2400" dirty="0" smtClean="0"/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489748"/>
            <a:ext cx="7116168" cy="620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580798"/>
            <a:ext cx="2590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Курсор SQL </a:t>
            </a:r>
            <a:r>
              <a:rPr lang="ru-RU" dirty="0" err="1"/>
              <a:t>Server</a:t>
            </a:r>
            <a:r>
              <a:rPr lang="ru-RU" dirty="0"/>
              <a:t> как вывод хранимой процедуры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85046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4800" y="381000"/>
            <a:ext cx="822960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/>
              <a:t>Сохранение результатов хранимой процедуры SQL </a:t>
            </a:r>
            <a:r>
              <a:rPr lang="ru-RU" sz="2800" b="1" dirty="0" err="1"/>
              <a:t>Server</a:t>
            </a:r>
            <a:r>
              <a:rPr lang="ru-RU" sz="2800" b="1" dirty="0"/>
              <a:t> в таблицу</a:t>
            </a:r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52600"/>
            <a:ext cx="5715000" cy="398770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3581400"/>
            <a:ext cx="2586165" cy="259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125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457200"/>
            <a:ext cx="7467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solidFill>
                  <a:schemeClr val="accent2">
                    <a:lumMod val="75000"/>
                  </a:schemeClr>
                </a:solidFill>
              </a:rPr>
              <a:t>Безопасность хранимых процедур</a:t>
            </a:r>
          </a:p>
          <a:p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381000" y="1295400"/>
            <a:ext cx="84582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Когда запрос T-SQL записывается в хранимую процедуру, пользователь не может манипулировать кодом, а просто запускает его как есть. </a:t>
            </a:r>
            <a:endParaRPr lang="ru-RU" dirty="0" smtClean="0"/>
          </a:p>
          <a:p>
            <a:endParaRPr lang="ru-RU" b="1" dirty="0"/>
          </a:p>
          <a:p>
            <a:r>
              <a:rPr lang="ru-RU" b="1" dirty="0" smtClean="0"/>
              <a:t>Абстракция</a:t>
            </a:r>
            <a:r>
              <a:rPr lang="ru-RU" b="1" dirty="0"/>
              <a:t>:</a:t>
            </a:r>
            <a:r>
              <a:rPr lang="ru-RU" dirty="0"/>
              <a:t> пользователи могут выполнять сложные запросы, не зная структуры базовой таблицы или других объектов базы данных.</a:t>
            </a:r>
          </a:p>
          <a:p>
            <a:r>
              <a:rPr lang="ru-RU" b="1" dirty="0"/>
              <a:t>Шифрование:</a:t>
            </a:r>
            <a:r>
              <a:rPr lang="ru-RU" dirty="0"/>
              <a:t> вы можете зашифровать код в хранимой процедуре после ее создания.</a:t>
            </a:r>
          </a:p>
          <a:p>
            <a:r>
              <a:rPr lang="ru-RU" b="1" dirty="0"/>
              <a:t>Предотвращение SQL-инъекций:</a:t>
            </a:r>
            <a:r>
              <a:rPr lang="ru-RU" dirty="0"/>
              <a:t> все параметры, передаваемые в хранимые процедуры, могут быть проверены перед отправкой в ​​таблицу или другой объект базы данных.</a:t>
            </a:r>
          </a:p>
          <a:p>
            <a:r>
              <a:rPr lang="ru-RU" b="1" dirty="0"/>
              <a:t>Согласованная обработка данных:</a:t>
            </a:r>
            <a:r>
              <a:rPr lang="ru-RU" dirty="0"/>
              <a:t> хранимые процедуры каждый раз выполняют один и тот же код в одном и том же порядке.</a:t>
            </a:r>
          </a:p>
          <a:p>
            <a:r>
              <a:rPr lang="ru-RU" b="1" dirty="0"/>
              <a:t>Контроль выполнения:</a:t>
            </a:r>
            <a:r>
              <a:rPr lang="ru-RU" dirty="0"/>
              <a:t> вы можете установить разрешения для хранимой процедуры, чтобы только определенные пользователи или группы могли выполнять команду.</a:t>
            </a:r>
          </a:p>
          <a:p>
            <a:r>
              <a:rPr lang="ru-RU" b="1" dirty="0"/>
              <a:t>Обработка ошибок.</a:t>
            </a:r>
            <a:r>
              <a:rPr lang="ru-RU" dirty="0"/>
              <a:t> Хранимые процедуры позволяют использовать согласованную и эффективную обработку ошибок и создание отчетов.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5629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45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04800" y="990600"/>
            <a:ext cx="82296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SQL </a:t>
            </a:r>
            <a:r>
              <a:rPr lang="ru-RU" dirty="0" err="1" smtClean="0"/>
              <a:t>Server</a:t>
            </a:r>
            <a:r>
              <a:rPr lang="ru-RU" dirty="0" smtClean="0"/>
              <a:t> имеются следующие классы функций пользователя:</a:t>
            </a:r>
            <a:endParaRPr lang="en-US" dirty="0" smtClean="0"/>
          </a:p>
          <a:p>
            <a:endParaRPr lang="ru-RU" dirty="0" smtClean="0"/>
          </a:p>
          <a:p>
            <a:r>
              <a:rPr lang="ru-RU" b="1" i="1" dirty="0" err="1" smtClean="0"/>
              <a:t>Scalar</a:t>
            </a:r>
            <a:r>
              <a:rPr lang="ru-RU" b="1" i="1" dirty="0" smtClean="0"/>
              <a:t> </a:t>
            </a:r>
            <a:r>
              <a:rPr lang="ru-RU" dirty="0" smtClean="0"/>
              <a:t>– функции возвращают обычное скалярное значение, каждая может включать множество команд, объединяемых в один блок с помощью конструкции BEGIN...END. Такие функции могут возвращать любые типы данных, кроме </a:t>
            </a:r>
            <a:r>
              <a:rPr lang="ru-RU" dirty="0" err="1" smtClean="0"/>
              <a:t>text</a:t>
            </a:r>
            <a:r>
              <a:rPr lang="ru-RU" dirty="0" smtClean="0"/>
              <a:t>, </a:t>
            </a:r>
            <a:r>
              <a:rPr lang="ru-RU" dirty="0" err="1" smtClean="0"/>
              <a:t>ntext</a:t>
            </a:r>
            <a:r>
              <a:rPr lang="ru-RU" dirty="0" smtClean="0"/>
              <a:t>, </a:t>
            </a:r>
            <a:r>
              <a:rPr lang="ru-RU" dirty="0" err="1" smtClean="0"/>
              <a:t>image</a:t>
            </a:r>
            <a:r>
              <a:rPr lang="ru-RU" dirty="0" smtClean="0"/>
              <a:t>, </a:t>
            </a:r>
            <a:r>
              <a:rPr lang="ru-RU" dirty="0" err="1" smtClean="0"/>
              <a:t>cursor</a:t>
            </a:r>
            <a:r>
              <a:rPr lang="ru-RU" dirty="0" smtClean="0"/>
              <a:t> и </a:t>
            </a:r>
            <a:r>
              <a:rPr lang="ru-RU" dirty="0" err="1" smtClean="0"/>
              <a:t>timestamp</a:t>
            </a:r>
            <a:r>
              <a:rPr lang="ru-RU" dirty="0" smtClean="0"/>
              <a:t>; </a:t>
            </a:r>
            <a:endParaRPr lang="en-US" dirty="0" smtClean="0"/>
          </a:p>
          <a:p>
            <a:endParaRPr lang="ru-RU" dirty="0" smtClean="0"/>
          </a:p>
          <a:p>
            <a:r>
              <a:rPr lang="ru-RU" b="1" i="1" dirty="0" err="1" smtClean="0"/>
              <a:t>Inline</a:t>
            </a:r>
            <a:r>
              <a:rPr lang="ru-RU" dirty="0" smtClean="0"/>
              <a:t> – функции содержат всего одну команду SELECT и возвращают пользователю набор данных в виде значения типа данных TABLE;</a:t>
            </a:r>
            <a:endParaRPr lang="en-US" dirty="0" smtClean="0"/>
          </a:p>
          <a:p>
            <a:endParaRPr lang="ru-RU" dirty="0" smtClean="0"/>
          </a:p>
          <a:p>
            <a:r>
              <a:rPr lang="ru-RU" b="1" i="1" dirty="0" err="1" smtClean="0"/>
              <a:t>Multi-statement</a:t>
            </a:r>
            <a:r>
              <a:rPr lang="ru-RU" dirty="0" smtClean="0"/>
              <a:t> – функции также возвращают пользователю значение типа данных TABLE, содержащее набор данных, однако в теле функции находится множество команд SQL ( INSERT, UPDATE и т.д.). Именно с их помощью и формируется набор данных, который должен быть возвращен после выполнения функции.</a:t>
            </a:r>
          </a:p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9756" y="5290759"/>
            <a:ext cx="2672072" cy="14307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46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" y="990600"/>
            <a:ext cx="838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/>
              <a:t>Скалярные функции</a:t>
            </a:r>
          </a:p>
          <a:p>
            <a:endParaRPr lang="en-US" b="1" dirty="0" smtClean="0"/>
          </a:p>
          <a:p>
            <a:r>
              <a:rPr lang="en-US" b="1" dirty="0" smtClean="0"/>
              <a:t>CREATE FUNCTION</a:t>
            </a:r>
            <a:r>
              <a:rPr lang="en-US" dirty="0" smtClean="0"/>
              <a:t> [ </a:t>
            </a:r>
            <a:r>
              <a:rPr lang="en-US" dirty="0" err="1" smtClean="0"/>
              <a:t>имя_схемы</a:t>
            </a:r>
            <a:r>
              <a:rPr lang="en-US" dirty="0" smtClean="0"/>
              <a:t>. ] </a:t>
            </a:r>
            <a:r>
              <a:rPr lang="ru-RU" dirty="0" smtClean="0"/>
              <a:t>имя</a:t>
            </a:r>
            <a:r>
              <a:rPr lang="en-US" dirty="0" smtClean="0"/>
              <a:t> _</a:t>
            </a:r>
            <a:r>
              <a:rPr lang="ru-RU" dirty="0" smtClean="0"/>
              <a:t>функции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ru-RU" dirty="0" smtClean="0"/>
              <a:t>( [ { @</a:t>
            </a:r>
            <a:r>
              <a:rPr lang="ru-RU" dirty="0" err="1" smtClean="0"/>
              <a:t>имя_параметра</a:t>
            </a:r>
            <a:r>
              <a:rPr lang="ru-RU" dirty="0" smtClean="0"/>
              <a:t> [ </a:t>
            </a:r>
            <a:r>
              <a:rPr lang="en-US" dirty="0" smtClean="0"/>
              <a:t>AS</a:t>
            </a:r>
            <a:r>
              <a:rPr lang="ru-RU" dirty="0" smtClean="0"/>
              <a:t> ][ </a:t>
            </a:r>
            <a:r>
              <a:rPr lang="ru-RU" dirty="0" err="1" smtClean="0"/>
              <a:t>имя_схемы</a:t>
            </a:r>
            <a:r>
              <a:rPr lang="ru-RU" dirty="0" smtClean="0"/>
              <a:t>. ] </a:t>
            </a:r>
            <a:r>
              <a:rPr lang="ru-RU" dirty="0" err="1" smtClean="0"/>
              <a:t>тип_данных</a:t>
            </a:r>
            <a:r>
              <a:rPr lang="ru-RU" dirty="0" smtClean="0"/>
              <a:t> </a:t>
            </a:r>
          </a:p>
          <a:p>
            <a:r>
              <a:rPr lang="ru-RU" dirty="0" smtClean="0"/>
              <a:t>	</a:t>
            </a:r>
            <a:r>
              <a:rPr lang="en-US" dirty="0" smtClean="0"/>
              <a:t>[ = default ] [ READONLY ] } 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[ ,...n ]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]</a:t>
            </a:r>
            <a:endParaRPr lang="ru-RU" dirty="0" smtClean="0"/>
          </a:p>
          <a:p>
            <a:r>
              <a:rPr lang="en-US" dirty="0" smtClean="0"/>
              <a:t>)</a:t>
            </a:r>
            <a:endParaRPr lang="ru-RU" dirty="0" smtClean="0"/>
          </a:p>
          <a:p>
            <a:r>
              <a:rPr lang="en-US" dirty="0" smtClean="0"/>
              <a:t>RETURNS </a:t>
            </a:r>
            <a:r>
              <a:rPr lang="ru-RU" dirty="0" smtClean="0"/>
              <a:t>тип</a:t>
            </a:r>
            <a:r>
              <a:rPr lang="en-US" dirty="0" smtClean="0"/>
              <a:t>_</a:t>
            </a:r>
            <a:r>
              <a:rPr lang="ru-RU" dirty="0" smtClean="0"/>
              <a:t>данных</a:t>
            </a:r>
          </a:p>
          <a:p>
            <a:r>
              <a:rPr lang="en-US" dirty="0" smtClean="0"/>
              <a:t>[ WITH {ENCRYPTION | SCHEMABINDING | EXECUTE AS … } ,[…n] ]</a:t>
            </a:r>
            <a:endParaRPr lang="ru-RU" dirty="0" smtClean="0"/>
          </a:p>
          <a:p>
            <a:r>
              <a:rPr lang="ru-RU" dirty="0" smtClean="0"/>
              <a:t>[ </a:t>
            </a:r>
            <a:r>
              <a:rPr lang="en-US" dirty="0" smtClean="0"/>
              <a:t>AS</a:t>
            </a:r>
            <a:r>
              <a:rPr lang="ru-RU" dirty="0" smtClean="0"/>
              <a:t> ]</a:t>
            </a:r>
          </a:p>
          <a:p>
            <a:r>
              <a:rPr lang="en-US" dirty="0" smtClean="0"/>
              <a:t>BEGIN</a:t>
            </a:r>
            <a:r>
              <a:rPr lang="ru-RU" dirty="0" smtClean="0"/>
              <a:t> </a:t>
            </a:r>
          </a:p>
          <a:p>
            <a:r>
              <a:rPr lang="ru-RU" dirty="0" smtClean="0"/>
              <a:t>	</a:t>
            </a:r>
            <a:r>
              <a:rPr lang="ru-RU" dirty="0" err="1" smtClean="0"/>
              <a:t>тело_функции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RETURN </a:t>
            </a:r>
            <a:r>
              <a:rPr lang="ru-RU" dirty="0" err="1" smtClean="0"/>
              <a:t>скалярное_выражение</a:t>
            </a:r>
            <a:endParaRPr lang="ru-RU" dirty="0" smtClean="0"/>
          </a:p>
          <a:p>
            <a:r>
              <a:rPr lang="en-US" dirty="0" smtClean="0"/>
              <a:t>END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47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1103531"/>
            <a:ext cx="7011378" cy="2314898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561121"/>
            <a:ext cx="8411749" cy="314368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48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280" y="1103531"/>
            <a:ext cx="7011378" cy="2314898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850" y="3530641"/>
            <a:ext cx="9574750" cy="3299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23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49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" y="1219200"/>
            <a:ext cx="83820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err="1" smtClean="0"/>
              <a:t>Inline</a:t>
            </a:r>
            <a:r>
              <a:rPr lang="ru-RU" b="1" i="1" dirty="0" smtClean="0"/>
              <a:t> функции </a:t>
            </a:r>
          </a:p>
          <a:p>
            <a:endParaRPr lang="en-US" b="1" dirty="0" smtClean="0"/>
          </a:p>
          <a:p>
            <a:r>
              <a:rPr lang="en-US" b="1" dirty="0" smtClean="0"/>
              <a:t>CREATE FUNCTION</a:t>
            </a:r>
            <a:r>
              <a:rPr lang="en-US" dirty="0" smtClean="0"/>
              <a:t> [ </a:t>
            </a:r>
            <a:r>
              <a:rPr lang="ru-RU" dirty="0" smtClean="0"/>
              <a:t>имя</a:t>
            </a:r>
            <a:r>
              <a:rPr lang="en-US" dirty="0" smtClean="0"/>
              <a:t>_</a:t>
            </a:r>
            <a:r>
              <a:rPr lang="ru-RU" dirty="0" smtClean="0"/>
              <a:t>схемы</a:t>
            </a:r>
            <a:r>
              <a:rPr lang="en-US" dirty="0" smtClean="0"/>
              <a:t>. ] </a:t>
            </a:r>
            <a:r>
              <a:rPr lang="ru-RU" dirty="0" smtClean="0"/>
              <a:t>имя</a:t>
            </a:r>
            <a:r>
              <a:rPr lang="en-US" dirty="0" smtClean="0"/>
              <a:t> _</a:t>
            </a:r>
            <a:r>
              <a:rPr lang="ru-RU" dirty="0" smtClean="0"/>
              <a:t>функции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ru-RU" dirty="0" smtClean="0"/>
              <a:t>( [ { @</a:t>
            </a:r>
            <a:r>
              <a:rPr lang="ru-RU" dirty="0" err="1" smtClean="0"/>
              <a:t>имя_параметра</a:t>
            </a:r>
            <a:r>
              <a:rPr lang="ru-RU" dirty="0" smtClean="0"/>
              <a:t> [ </a:t>
            </a:r>
            <a:r>
              <a:rPr lang="en-US" dirty="0" smtClean="0"/>
              <a:t>AS</a:t>
            </a:r>
            <a:r>
              <a:rPr lang="ru-RU" dirty="0" smtClean="0"/>
              <a:t> ][ </a:t>
            </a:r>
            <a:r>
              <a:rPr lang="ru-RU" dirty="0" err="1" smtClean="0"/>
              <a:t>имя_схемы</a:t>
            </a:r>
            <a:r>
              <a:rPr lang="ru-RU" dirty="0" smtClean="0"/>
              <a:t>. ] </a:t>
            </a:r>
            <a:r>
              <a:rPr lang="ru-RU" dirty="0" err="1" smtClean="0"/>
              <a:t>тип_данных</a:t>
            </a:r>
            <a:r>
              <a:rPr lang="ru-RU" dirty="0" smtClean="0"/>
              <a:t> 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[ = default ] [ READONLY ] }     [ ,...n ]  ])</a:t>
            </a:r>
            <a:endParaRPr lang="ru-RU" dirty="0" smtClean="0"/>
          </a:p>
          <a:p>
            <a:r>
              <a:rPr lang="en-US" dirty="0" smtClean="0"/>
              <a:t>RETURNS  TABLE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[ WITH {ENCRYPTION | SCHEMABINDING | EXECUTE AS … } ,[…n] ]</a:t>
            </a:r>
            <a:endParaRPr lang="ru-RU" dirty="0" smtClean="0"/>
          </a:p>
          <a:p>
            <a:r>
              <a:rPr lang="en-US" dirty="0" smtClean="0"/>
              <a:t> </a:t>
            </a:r>
            <a:r>
              <a:rPr lang="ru-RU" dirty="0" smtClean="0"/>
              <a:t>[ </a:t>
            </a:r>
            <a:r>
              <a:rPr lang="en-US" dirty="0" smtClean="0"/>
              <a:t>AS</a:t>
            </a:r>
            <a:r>
              <a:rPr lang="ru-RU" dirty="0" smtClean="0"/>
              <a:t> ]</a:t>
            </a:r>
          </a:p>
          <a:p>
            <a:r>
              <a:rPr lang="ru-RU" dirty="0" smtClean="0"/>
              <a:t>	 </a:t>
            </a:r>
            <a:r>
              <a:rPr lang="en-US" dirty="0" smtClean="0"/>
              <a:t>RETURN </a:t>
            </a:r>
            <a:r>
              <a:rPr lang="ru-RU" dirty="0" smtClean="0"/>
              <a:t>[(] </a:t>
            </a:r>
            <a:r>
              <a:rPr lang="en-US" dirty="0" smtClean="0"/>
              <a:t>SELECT</a:t>
            </a:r>
            <a:r>
              <a:rPr lang="ru-RU" dirty="0" err="1" smtClean="0"/>
              <a:t>_оператор</a:t>
            </a:r>
            <a:r>
              <a:rPr lang="ru-RU" dirty="0" smtClean="0"/>
              <a:t> [)]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50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990600"/>
            <a:ext cx="8340071" cy="47200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51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238" y="4495893"/>
            <a:ext cx="8287907" cy="124794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76238" y="1329898"/>
            <a:ext cx="823436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/>
              <a:t>APPLY </a:t>
            </a:r>
            <a:r>
              <a:rPr lang="ru-RU" dirty="0"/>
              <a:t>позволяет вызывать табличную функцию для каждой строки, возвращаемой внешним табличным выражением запроса. </a:t>
            </a:r>
            <a:endParaRPr lang="ru-RU" dirty="0" smtClean="0"/>
          </a:p>
          <a:p>
            <a:r>
              <a:rPr lang="ru-RU" dirty="0"/>
              <a:t/>
            </a:r>
            <a:br>
              <a:rPr lang="ru-RU" dirty="0"/>
            </a:br>
            <a:r>
              <a:rPr lang="ru-RU" dirty="0"/>
              <a:t>Оператор </a:t>
            </a:r>
            <a:r>
              <a:rPr lang="ru-RU" b="1" i="1" dirty="0"/>
              <a:t>CROSS APPLY </a:t>
            </a:r>
            <a:r>
              <a:rPr lang="ru-RU" dirty="0"/>
              <a:t>возвращает только строки из внешней таблицы, которые создает результирующий набор из возвращающего табличное значение функции. </a:t>
            </a:r>
            <a:endParaRPr lang="ru-RU" dirty="0" smtClean="0"/>
          </a:p>
          <a:p>
            <a:r>
              <a:rPr lang="ru-RU" dirty="0" smtClean="0"/>
              <a:t>Оператор </a:t>
            </a:r>
            <a:r>
              <a:rPr lang="ru-RU" b="1" i="1" dirty="0"/>
              <a:t>OUTER APPLY</a:t>
            </a:r>
            <a:r>
              <a:rPr lang="ru-RU" dirty="0"/>
              <a:t> возвращает и строки, которые формируют результирующий набор, и строки, которые этого не делают, со значениями NULL в столбцах, созданных возвращающей табличное значение функцией.</a:t>
            </a:r>
          </a:p>
        </p:txBody>
      </p:sp>
    </p:spTree>
    <p:extLst>
      <p:ext uri="{BB962C8B-B14F-4D97-AF65-F5344CB8AC3E}">
        <p14:creationId xmlns:p14="http://schemas.microsoft.com/office/powerpoint/2010/main" val="3568056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4820323" cy="547763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86400" y="533400"/>
            <a:ext cx="3352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Пример </a:t>
            </a:r>
            <a:r>
              <a:rPr lang="ru-RU" dirty="0" err="1" smtClean="0"/>
              <a:t>распарсивания</a:t>
            </a:r>
            <a:r>
              <a:rPr lang="ru-RU" dirty="0" smtClean="0"/>
              <a:t> </a:t>
            </a:r>
            <a:r>
              <a:rPr lang="ru-RU" dirty="0"/>
              <a:t>значений из строки с разделителем. </a:t>
            </a:r>
            <a:endParaRPr lang="ru-RU" dirty="0" smtClean="0"/>
          </a:p>
          <a:p>
            <a:r>
              <a:rPr lang="ru-RU" dirty="0" smtClean="0"/>
              <a:t>Предположим</a:t>
            </a:r>
            <a:r>
              <a:rPr lang="ru-RU" dirty="0"/>
              <a:t>, что у нас есть таблица-помойка в которой хранится информация о каких-то людях</a:t>
            </a:r>
            <a:r>
              <a:rPr lang="ru-RU" dirty="0" smtClean="0"/>
              <a:t>:</a:t>
            </a:r>
          </a:p>
          <a:p>
            <a:r>
              <a:rPr lang="ru-RU" dirty="0" smtClean="0"/>
              <a:t> </a:t>
            </a:r>
            <a:r>
              <a:rPr lang="ru-RU" dirty="0"/>
              <a:t>фамилия, Имя, Отчество, год рождения и город в котором он проживает</a:t>
            </a:r>
            <a:r>
              <a:rPr lang="ru-RU" dirty="0" smtClean="0"/>
              <a:t>.</a:t>
            </a:r>
          </a:p>
          <a:p>
            <a:r>
              <a:rPr lang="ru-RU" dirty="0" smtClean="0"/>
              <a:t> </a:t>
            </a:r>
            <a:r>
              <a:rPr lang="ru-RU" dirty="0"/>
              <a:t>Все параметры разделены запятой, при этом в строке могут храниться не все эти значения.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5858639"/>
            <a:ext cx="6934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Задача: вытащить каждое значение в отдельную колонку, своего рода попытка нормализации</a:t>
            </a:r>
          </a:p>
        </p:txBody>
      </p:sp>
    </p:spTree>
    <p:extLst>
      <p:ext uri="{BB962C8B-B14F-4D97-AF65-F5344CB8AC3E}">
        <p14:creationId xmlns:p14="http://schemas.microsoft.com/office/powerpoint/2010/main" val="1031785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09600"/>
            <a:ext cx="5068007" cy="247684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581400" y="1817543"/>
            <a:ext cx="5105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Для окончательного разрезания строки, необходимо получить позицию (порядковый номер в строке) каждой запятой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3359936"/>
            <a:ext cx="7097115" cy="3467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95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85800"/>
            <a:ext cx="6849431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078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55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04800" y="1295400"/>
            <a:ext cx="86106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err="1" smtClean="0"/>
              <a:t>Multi-statement</a:t>
            </a:r>
            <a:r>
              <a:rPr lang="ru-RU" b="1" i="1" dirty="0" smtClean="0"/>
              <a:t> функции </a:t>
            </a:r>
          </a:p>
          <a:p>
            <a:endParaRPr lang="en-US" b="1" dirty="0" smtClean="0"/>
          </a:p>
          <a:p>
            <a:r>
              <a:rPr lang="en-US" b="1" dirty="0" smtClean="0"/>
              <a:t>CREATE FUNCTION</a:t>
            </a:r>
            <a:r>
              <a:rPr lang="en-US" dirty="0" smtClean="0"/>
              <a:t> [ </a:t>
            </a:r>
            <a:r>
              <a:rPr lang="ru-RU" dirty="0" smtClean="0"/>
              <a:t>имя</a:t>
            </a:r>
            <a:r>
              <a:rPr lang="en-US" dirty="0" smtClean="0"/>
              <a:t>_</a:t>
            </a:r>
            <a:r>
              <a:rPr lang="ru-RU" dirty="0" smtClean="0"/>
              <a:t>схемы</a:t>
            </a:r>
            <a:r>
              <a:rPr lang="en-US" dirty="0" smtClean="0"/>
              <a:t>. ] </a:t>
            </a:r>
            <a:r>
              <a:rPr lang="ru-RU" dirty="0" smtClean="0"/>
              <a:t>имя</a:t>
            </a:r>
            <a:r>
              <a:rPr lang="en-US" dirty="0" smtClean="0"/>
              <a:t> _</a:t>
            </a:r>
            <a:r>
              <a:rPr lang="ru-RU" dirty="0" smtClean="0"/>
              <a:t>функции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ru-RU" dirty="0" smtClean="0"/>
              <a:t>( [ { @</a:t>
            </a:r>
            <a:r>
              <a:rPr lang="ru-RU" dirty="0" err="1" smtClean="0"/>
              <a:t>имя_параметра</a:t>
            </a:r>
            <a:r>
              <a:rPr lang="ru-RU" dirty="0" smtClean="0"/>
              <a:t> [ </a:t>
            </a:r>
            <a:r>
              <a:rPr lang="en-US" dirty="0" smtClean="0"/>
              <a:t>AS</a:t>
            </a:r>
            <a:r>
              <a:rPr lang="ru-RU" dirty="0" smtClean="0"/>
              <a:t> ][ </a:t>
            </a:r>
            <a:r>
              <a:rPr lang="ru-RU" dirty="0" err="1" smtClean="0"/>
              <a:t>имя_схемы</a:t>
            </a:r>
            <a:r>
              <a:rPr lang="ru-RU" dirty="0" smtClean="0"/>
              <a:t>. ] </a:t>
            </a:r>
            <a:r>
              <a:rPr lang="ru-RU" dirty="0" err="1" smtClean="0"/>
              <a:t>тип_данных</a:t>
            </a:r>
            <a:r>
              <a:rPr lang="ru-RU" dirty="0" smtClean="0"/>
              <a:t> </a:t>
            </a:r>
          </a:p>
          <a:p>
            <a:r>
              <a:rPr lang="ru-RU" dirty="0" smtClean="0"/>
              <a:t>    </a:t>
            </a:r>
            <a:r>
              <a:rPr lang="en-US" dirty="0" smtClean="0"/>
              <a:t>[ = default ] [ READONLY ] }     [ ,...n ]  ])</a:t>
            </a:r>
            <a:endParaRPr lang="ru-RU" dirty="0" smtClean="0"/>
          </a:p>
          <a:p>
            <a:r>
              <a:rPr lang="en-US" dirty="0" smtClean="0"/>
              <a:t>RETURNS  @</a:t>
            </a:r>
            <a:r>
              <a:rPr lang="ru-RU" dirty="0" smtClean="0"/>
              <a:t>имя</a:t>
            </a:r>
            <a:r>
              <a:rPr lang="en-US" dirty="0" smtClean="0"/>
              <a:t>_</a:t>
            </a:r>
            <a:r>
              <a:rPr lang="ru-RU" dirty="0" smtClean="0"/>
              <a:t>параметра </a:t>
            </a:r>
            <a:r>
              <a:rPr lang="en-US" dirty="0" smtClean="0"/>
              <a:t>TABLE </a:t>
            </a:r>
            <a:r>
              <a:rPr lang="ru-RU" dirty="0" smtClean="0"/>
              <a:t>определение</a:t>
            </a:r>
            <a:r>
              <a:rPr lang="en-US" dirty="0" smtClean="0"/>
              <a:t>_</a:t>
            </a:r>
            <a:r>
              <a:rPr lang="ru-RU" dirty="0" smtClean="0"/>
              <a:t>таблицы</a:t>
            </a:r>
          </a:p>
          <a:p>
            <a:r>
              <a:rPr lang="en-US" dirty="0" smtClean="0"/>
              <a:t> [ WITH {ENCRYPTION | SCHEMABINDING | EXECUTE AS … } ,[…n] ]</a:t>
            </a:r>
            <a:endParaRPr lang="ru-RU" dirty="0" smtClean="0"/>
          </a:p>
          <a:p>
            <a:r>
              <a:rPr lang="en-US" dirty="0" smtClean="0"/>
              <a:t>[ AS ]</a:t>
            </a:r>
            <a:endParaRPr lang="ru-RU" dirty="0" smtClean="0"/>
          </a:p>
          <a:p>
            <a:r>
              <a:rPr lang="en-US" dirty="0" smtClean="0"/>
              <a:t>BEGIN </a:t>
            </a:r>
            <a:endParaRPr lang="ru-RU" dirty="0" smtClean="0"/>
          </a:p>
          <a:p>
            <a:r>
              <a:rPr lang="en-US" dirty="0" smtClean="0"/>
              <a:t>	</a:t>
            </a:r>
            <a:r>
              <a:rPr lang="ru-RU" dirty="0" smtClean="0"/>
              <a:t>тело</a:t>
            </a:r>
            <a:r>
              <a:rPr lang="en-US" dirty="0" smtClean="0"/>
              <a:t>_</a:t>
            </a:r>
            <a:r>
              <a:rPr lang="ru-RU" dirty="0" smtClean="0"/>
              <a:t>функции</a:t>
            </a:r>
          </a:p>
          <a:p>
            <a:r>
              <a:rPr lang="en-US" dirty="0" smtClean="0"/>
              <a:t>	RETURN</a:t>
            </a:r>
            <a:endParaRPr lang="ru-RU" dirty="0" smtClean="0"/>
          </a:p>
          <a:p>
            <a:r>
              <a:rPr lang="en-US" dirty="0" smtClean="0"/>
              <a:t>END</a:t>
            </a:r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4800"/>
            <a:ext cx="7201905" cy="5992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64881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533400"/>
            <a:ext cx="5334000" cy="6247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4280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58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28600" y="990600"/>
            <a:ext cx="861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1" dirty="0" smtClean="0"/>
              <a:t>Триггер -</a:t>
            </a:r>
            <a:r>
              <a:rPr lang="ru-RU" sz="2400" dirty="0" smtClean="0"/>
              <a:t> </a:t>
            </a:r>
            <a:r>
              <a:rPr lang="ru-RU" sz="2400" i="1" dirty="0" smtClean="0"/>
              <a:t>это откомпилированная SQL-процедура, исполнение которой обусловлено наступлением определенных событий внутри реляционной базы данных</a:t>
            </a:r>
            <a:r>
              <a:rPr lang="ru-RU" sz="2400" dirty="0" smtClean="0"/>
              <a:t>. </a:t>
            </a:r>
            <a:endParaRPr lang="ru-RU" sz="2400" b="1" dirty="0" smtClean="0"/>
          </a:p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381000" y="2667000"/>
            <a:ext cx="84582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 smtClean="0"/>
              <a:t>Задачи</a:t>
            </a:r>
          </a:p>
          <a:p>
            <a:pPr algn="just"/>
            <a:endParaRPr lang="ru-RU" sz="2000" dirty="0" smtClean="0"/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/>
              <a:t>проверка корректности введенных данных и выполнение сложных ограничений целостности данных, которые трудно, если вообще возможно, поддерживать с помощью ограничений целостности, установленных для таблицы;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/>
              <a:t>выдача предупреждений, напоминающих о необходимости выполнения некоторых действий при обновлении таблицы, реализованном определенным образом;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/>
              <a:t>накопление аудиторской информации посредством фиксации сведений о внесенных изменениях и тех лицах, которые их выполнили;</a:t>
            </a:r>
          </a:p>
          <a:p>
            <a:pPr algn="just">
              <a:buFont typeface="Arial" pitchFamily="34" charset="0"/>
              <a:buChar char="•"/>
            </a:pPr>
            <a:r>
              <a:rPr lang="ru-RU" sz="2000" dirty="0" smtClean="0"/>
              <a:t>поддержка репликации.</a:t>
            </a:r>
          </a:p>
          <a:p>
            <a:pPr algn="just"/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71600"/>
            <a:ext cx="6906589" cy="422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0207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60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28600" y="1219200"/>
            <a:ext cx="86106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{CREATE | ALTER} TRIGGER </a:t>
            </a:r>
            <a:r>
              <a:rPr lang="ru-RU" dirty="0" err="1" smtClean="0"/>
              <a:t>имя_триггера</a:t>
            </a:r>
            <a:r>
              <a:rPr lang="ru-RU" dirty="0" smtClean="0"/>
              <a:t> </a:t>
            </a:r>
          </a:p>
          <a:p>
            <a:r>
              <a:rPr lang="ru-RU" dirty="0" smtClean="0"/>
              <a:t>	</a:t>
            </a:r>
            <a:r>
              <a:rPr lang="en-US" dirty="0" smtClean="0"/>
              <a:t>ON {</a:t>
            </a:r>
            <a:r>
              <a:rPr lang="ru-RU" dirty="0" err="1" smtClean="0"/>
              <a:t>имя_таблицы</a:t>
            </a:r>
            <a:r>
              <a:rPr lang="ru-RU" dirty="0" smtClean="0"/>
              <a:t> | </a:t>
            </a:r>
            <a:r>
              <a:rPr lang="ru-RU" dirty="0" err="1" smtClean="0"/>
              <a:t>имя_просмотра</a:t>
            </a:r>
            <a:r>
              <a:rPr lang="ru-RU" dirty="0" smtClean="0"/>
              <a:t> }</a:t>
            </a:r>
          </a:p>
          <a:p>
            <a:r>
              <a:rPr lang="ru-RU" dirty="0" smtClean="0"/>
              <a:t>	 [</a:t>
            </a:r>
            <a:r>
              <a:rPr lang="en-US" dirty="0" smtClean="0"/>
              <a:t>WITH ENCRYPTION ] 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{ { { FOR | AFTER | INSTEAD OF } { [ DELETE] [,] [ INSERT] [,] [ UPDATE] }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 [ WITH APPEND ] [ NOT FOR REPLICATION ]</a:t>
            </a:r>
            <a:endParaRPr lang="ru-RU" dirty="0" smtClean="0"/>
          </a:p>
          <a:p>
            <a:r>
              <a:rPr lang="en-US" dirty="0" smtClean="0"/>
              <a:t> AS </a:t>
            </a:r>
            <a:r>
              <a:rPr lang="en-US" dirty="0" err="1" smtClean="0"/>
              <a:t>sql</a:t>
            </a:r>
            <a:r>
              <a:rPr lang="en-US" dirty="0" smtClean="0"/>
              <a:t>_</a:t>
            </a:r>
            <a:r>
              <a:rPr lang="ru-RU" dirty="0" smtClean="0"/>
              <a:t>оператор[...</a:t>
            </a:r>
            <a:r>
              <a:rPr lang="en-US" dirty="0" smtClean="0"/>
              <a:t>n] } </a:t>
            </a:r>
            <a:endParaRPr lang="ru-RU" dirty="0" smtClean="0"/>
          </a:p>
          <a:p>
            <a:r>
              <a:rPr lang="en-US" dirty="0" smtClean="0"/>
              <a:t>|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 { {FOR | AFTER | INSTEAD OF } { [INSERT] [,] [UPDATE] } 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[ WITH APPEND] [ NOT FOR REPLICATION] </a:t>
            </a:r>
            <a:endParaRPr lang="ru-RU" dirty="0" smtClean="0"/>
          </a:p>
          <a:p>
            <a:r>
              <a:rPr lang="en-US" dirty="0" smtClean="0"/>
              <a:t>AS 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{ IF UPDATE(</a:t>
            </a:r>
            <a:r>
              <a:rPr lang="ru-RU" dirty="0" err="1" smtClean="0"/>
              <a:t>имя_столбца</a:t>
            </a:r>
            <a:r>
              <a:rPr lang="ru-RU" dirty="0" smtClean="0"/>
              <a:t>) [ {</a:t>
            </a:r>
            <a:r>
              <a:rPr lang="en-US" dirty="0" smtClean="0"/>
              <a:t>AND | OR} UPDATE(</a:t>
            </a:r>
            <a:r>
              <a:rPr lang="ru-RU" dirty="0" err="1" smtClean="0"/>
              <a:t>имя_столбца</a:t>
            </a:r>
            <a:r>
              <a:rPr lang="ru-RU" dirty="0" smtClean="0"/>
              <a:t>)] [...</a:t>
            </a:r>
            <a:r>
              <a:rPr lang="en-US" dirty="0" smtClean="0"/>
              <a:t>n] 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|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 IF (COLUMNS_UPDATES(){</a:t>
            </a:r>
            <a:r>
              <a:rPr lang="ru-RU" dirty="0" err="1" smtClean="0"/>
              <a:t>оператор_бит_обработки</a:t>
            </a:r>
            <a:r>
              <a:rPr lang="ru-RU" dirty="0" smtClean="0"/>
              <a:t>} </a:t>
            </a:r>
            <a:r>
              <a:rPr lang="ru-RU" dirty="0" err="1" smtClean="0"/>
              <a:t>бит_маска_изменения</a:t>
            </a:r>
            <a:r>
              <a:rPr lang="ru-RU" dirty="0" smtClean="0"/>
              <a:t>) 	{</a:t>
            </a:r>
            <a:r>
              <a:rPr lang="ru-RU" dirty="0" err="1" smtClean="0"/>
              <a:t>оператор_бит_сравнения</a:t>
            </a:r>
            <a:r>
              <a:rPr lang="ru-RU" dirty="0" smtClean="0"/>
              <a:t> }</a:t>
            </a:r>
            <a:r>
              <a:rPr lang="ru-RU" dirty="0" err="1" smtClean="0"/>
              <a:t>бит_маска</a:t>
            </a:r>
            <a:r>
              <a:rPr lang="ru-RU" dirty="0" smtClean="0"/>
              <a:t> [...</a:t>
            </a:r>
            <a:r>
              <a:rPr lang="en-US" dirty="0" smtClean="0"/>
              <a:t>n]} </a:t>
            </a:r>
            <a:endParaRPr lang="ru-RU" dirty="0" smtClean="0"/>
          </a:p>
          <a:p>
            <a:r>
              <a:rPr lang="en-US" dirty="0" err="1" smtClean="0"/>
              <a:t>sql</a:t>
            </a:r>
            <a:r>
              <a:rPr lang="en-US" dirty="0" smtClean="0"/>
              <a:t>_</a:t>
            </a:r>
            <a:r>
              <a:rPr lang="ru-RU" dirty="0" smtClean="0"/>
              <a:t>оператор [...</a:t>
            </a:r>
            <a:r>
              <a:rPr lang="en-US" dirty="0" smtClean="0"/>
              <a:t>n] } }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61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28600" y="1219200"/>
            <a:ext cx="86106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В SQL </a:t>
            </a:r>
            <a:r>
              <a:rPr lang="ru-RU" dirty="0" err="1" smtClean="0"/>
              <a:t>Server</a:t>
            </a:r>
            <a:r>
              <a:rPr lang="ru-RU" dirty="0" smtClean="0"/>
              <a:t> существует два параметра, определяющих поведение триггеров:</a:t>
            </a:r>
          </a:p>
          <a:p>
            <a:endParaRPr lang="ru-RU" dirty="0" smtClean="0"/>
          </a:p>
          <a:p>
            <a:pPr algn="just">
              <a:buFont typeface="Arial" pitchFamily="34" charset="0"/>
              <a:buChar char="•"/>
            </a:pPr>
            <a:r>
              <a:rPr lang="ru-RU" dirty="0" smtClean="0"/>
              <a:t>    </a:t>
            </a:r>
            <a:r>
              <a:rPr lang="ru-RU" b="1" dirty="0" smtClean="0"/>
              <a:t>AFTER</a:t>
            </a:r>
            <a:r>
              <a:rPr lang="ru-RU" dirty="0" smtClean="0"/>
              <a:t>. Триггер выполняется после успешного выполнения вызвавших его команд. Если же команды по какой-либо причине не могут быть успешно завершены, триггер не выполняется. Следует отметить, что изменения данных в результате выполнения запроса пользователя и выполнение триггера осуществляется в теле одной транзакции: если произойдет откат триггера, то будут отклонены и пользовательские изменения. Можно определить несколько AFTER-триггеров для каждой операции (INSERT, UPDATE, DELETE). Если для таблицы предусмотрено выполнение нескольких AFTER-триггеров, то с помощью системной хранимой процедуры </a:t>
            </a:r>
            <a:r>
              <a:rPr lang="ru-RU" dirty="0" err="1" smtClean="0"/>
              <a:t>sp_settriggerorder</a:t>
            </a:r>
            <a:r>
              <a:rPr lang="ru-RU" dirty="0" smtClean="0"/>
              <a:t> можно указать, какой из них будет выполняться первым, а какой последним. По умолчанию в SQL </a:t>
            </a:r>
            <a:r>
              <a:rPr lang="ru-RU" dirty="0" err="1" smtClean="0"/>
              <a:t>Server</a:t>
            </a:r>
            <a:r>
              <a:rPr lang="ru-RU" dirty="0" smtClean="0"/>
              <a:t> все триггеры являются AFTER-триггерами.</a:t>
            </a:r>
          </a:p>
          <a:p>
            <a:pPr algn="just">
              <a:buFont typeface="Arial" pitchFamily="34" charset="0"/>
              <a:buChar char="•"/>
            </a:pPr>
            <a:r>
              <a:rPr lang="ru-RU" b="1" dirty="0" smtClean="0"/>
              <a:t>  INSTEAD OF</a:t>
            </a:r>
            <a:r>
              <a:rPr lang="ru-RU" dirty="0" smtClean="0"/>
              <a:t>. Триггер вызывается вместо выполнения команд. В отличие от AFTER-триггера INSTEAD OF-триггер может быть определен как для таблицы, так и для просмотра. Для каждой операции INSERT, UPDATE, DELETE можно определить только один INSTEAD OF-триггер.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62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381000" y="948690"/>
            <a:ext cx="83058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Программирование триггера</a:t>
            </a:r>
          </a:p>
          <a:p>
            <a:r>
              <a:rPr lang="ru-RU" dirty="0" smtClean="0"/>
              <a:t>При выполнении команд добавления, изменения и удаления записей сервер создает две специальные таблицы:</a:t>
            </a:r>
            <a:r>
              <a:rPr lang="ru-RU" b="1" dirty="0" smtClean="0"/>
              <a:t> </a:t>
            </a:r>
            <a:r>
              <a:rPr lang="ru-RU" b="1" dirty="0" err="1" smtClean="0"/>
              <a:t>inserted</a:t>
            </a:r>
            <a:r>
              <a:rPr lang="ru-RU" dirty="0" smtClean="0"/>
              <a:t> и </a:t>
            </a:r>
            <a:r>
              <a:rPr lang="ru-RU" b="1" dirty="0" err="1" smtClean="0"/>
              <a:t>deleted</a:t>
            </a:r>
            <a:r>
              <a:rPr lang="ru-RU" dirty="0" smtClean="0"/>
              <a:t>. </a:t>
            </a:r>
          </a:p>
          <a:p>
            <a:r>
              <a:rPr lang="ru-RU" dirty="0" smtClean="0"/>
              <a:t>В зависимости от типа операции, вызвавшей выполнение триггера, содержимое таблиц </a:t>
            </a:r>
            <a:r>
              <a:rPr lang="ru-RU" dirty="0" err="1" smtClean="0"/>
              <a:t>inserted</a:t>
            </a:r>
            <a:r>
              <a:rPr lang="ru-RU" dirty="0" smtClean="0"/>
              <a:t> и </a:t>
            </a:r>
            <a:r>
              <a:rPr lang="ru-RU" dirty="0" err="1" smtClean="0"/>
              <a:t>deleted</a:t>
            </a:r>
            <a:r>
              <a:rPr lang="ru-RU" dirty="0" smtClean="0"/>
              <a:t> может быть разным:</a:t>
            </a:r>
          </a:p>
          <a:p>
            <a:r>
              <a:rPr lang="ru-RU" dirty="0" smtClean="0"/>
              <a:t>команда INSERT – в таблице </a:t>
            </a:r>
            <a:r>
              <a:rPr lang="ru-RU" dirty="0" err="1" smtClean="0"/>
              <a:t>inserted</a:t>
            </a:r>
            <a:r>
              <a:rPr lang="ru-RU" dirty="0" smtClean="0"/>
              <a:t> содержатся все строки, которые пользователь пытается вставить в таблицу; в таблице </a:t>
            </a:r>
            <a:r>
              <a:rPr lang="ru-RU" dirty="0" err="1" smtClean="0"/>
              <a:t>deleted</a:t>
            </a:r>
            <a:r>
              <a:rPr lang="ru-RU" dirty="0" smtClean="0"/>
              <a:t> не будет ни одной строки; после завершения триггера все строки из таблицы </a:t>
            </a:r>
            <a:r>
              <a:rPr lang="ru-RU" dirty="0" err="1" smtClean="0"/>
              <a:t>inserted</a:t>
            </a:r>
            <a:r>
              <a:rPr lang="ru-RU" dirty="0" smtClean="0"/>
              <a:t> переместятся в исходную таблицу;</a:t>
            </a:r>
          </a:p>
          <a:p>
            <a:r>
              <a:rPr lang="ru-RU" dirty="0" smtClean="0"/>
              <a:t>команда DELETE – в таблице </a:t>
            </a:r>
            <a:r>
              <a:rPr lang="ru-RU" dirty="0" err="1" smtClean="0"/>
              <a:t>deleted</a:t>
            </a:r>
            <a:r>
              <a:rPr lang="ru-RU" dirty="0" smtClean="0"/>
              <a:t> будут содержаться все строки, которые пользователь попытается удалить; триггер может проверить каждую строку и определить, разрешено ли ее удаление; в таблице </a:t>
            </a:r>
            <a:r>
              <a:rPr lang="ru-RU" dirty="0" err="1" smtClean="0"/>
              <a:t>inserted</a:t>
            </a:r>
            <a:r>
              <a:rPr lang="ru-RU" dirty="0" smtClean="0"/>
              <a:t> не окажется ни одной строки;</a:t>
            </a:r>
          </a:p>
          <a:p>
            <a:r>
              <a:rPr lang="ru-RU" dirty="0" smtClean="0"/>
              <a:t>команда UPDATE – при ее выполнении в таблице </a:t>
            </a:r>
            <a:r>
              <a:rPr lang="ru-RU" dirty="0" err="1" smtClean="0"/>
              <a:t>deleted</a:t>
            </a:r>
            <a:r>
              <a:rPr lang="ru-RU" dirty="0" smtClean="0"/>
              <a:t> находятся старые значения строк, которые будут удалены при успешном завершении триггера. Новые значения строк содержатся в таблице </a:t>
            </a:r>
            <a:r>
              <a:rPr lang="ru-RU" dirty="0" err="1" smtClean="0"/>
              <a:t>inserted</a:t>
            </a:r>
            <a:r>
              <a:rPr lang="ru-RU" dirty="0" smtClean="0"/>
              <a:t>. Эти строки добавятся в исходную таблицу после успешного выполнения триггера.</a:t>
            </a:r>
          </a:p>
          <a:p>
            <a:r>
              <a:rPr lang="ru-RU" dirty="0" smtClean="0"/>
              <a:t>Для получения информации о количестве строк, которое будет изменено при успешном завершении триггера, можно использовать </a:t>
            </a:r>
            <a:r>
              <a:rPr lang="ru-RU" dirty="0" err="1" smtClean="0"/>
              <a:t>функцию@@ROWCOUNT</a:t>
            </a:r>
            <a:r>
              <a:rPr lang="ru-RU" dirty="0" smtClean="0"/>
              <a:t>; она возвращает количество строк, обработанных последней командой. </a:t>
            </a:r>
          </a:p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trigger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609600"/>
            <a:ext cx="5105400" cy="3990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37203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64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381000" y="948690"/>
            <a:ext cx="80772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"/>
            <a:r>
              <a:rPr lang="en-US" dirty="0" smtClean="0"/>
              <a:t>Create trigger [</a:t>
            </a:r>
            <a:r>
              <a:rPr lang="en-US" dirty="0" err="1" smtClean="0"/>
              <a:t>dbo</a:t>
            </a:r>
            <a:r>
              <a:rPr lang="en-US" dirty="0" smtClean="0"/>
              <a:t>].[Insert] </a:t>
            </a:r>
            <a:br>
              <a:rPr lang="en-US" dirty="0" smtClean="0"/>
            </a:br>
            <a:r>
              <a:rPr lang="en-US" dirty="0" smtClean="0"/>
              <a:t>on [</a:t>
            </a:r>
            <a:r>
              <a:rPr lang="en-US" dirty="0" err="1" smtClean="0"/>
              <a:t>dbo</a:t>
            </a:r>
            <a:r>
              <a:rPr lang="en-US" dirty="0" smtClean="0"/>
              <a:t>].[</a:t>
            </a:r>
            <a:r>
              <a:rPr lang="en-US" dirty="0" err="1" smtClean="0"/>
              <a:t>Proba</a:t>
            </a:r>
            <a:r>
              <a:rPr lang="en-US" dirty="0" smtClean="0"/>
              <a:t>] </a:t>
            </a:r>
            <a:br>
              <a:rPr lang="en-US" dirty="0" smtClean="0"/>
            </a:br>
            <a:r>
              <a:rPr lang="en-US" dirty="0" smtClean="0"/>
              <a:t>instead of insert </a:t>
            </a:r>
            <a:br>
              <a:rPr lang="en-US" dirty="0" smtClean="0"/>
            </a:br>
            <a:r>
              <a:rPr lang="en-US" dirty="0" smtClean="0"/>
              <a:t>as </a:t>
            </a:r>
            <a:br>
              <a:rPr lang="en-US" dirty="0" smtClean="0"/>
            </a:br>
            <a:r>
              <a:rPr lang="en-US" dirty="0" smtClean="0"/>
              <a:t>begin </a:t>
            </a:r>
            <a:br>
              <a:rPr lang="en-US" dirty="0" smtClean="0"/>
            </a:br>
            <a:r>
              <a:rPr lang="en-US" dirty="0" smtClean="0"/>
              <a:t>declare @max </a:t>
            </a:r>
            <a:r>
              <a:rPr lang="en-US" dirty="0" err="1" smtClean="0"/>
              <a:t>int,@a</a:t>
            </a:r>
            <a:r>
              <a:rPr lang="en-US" dirty="0" smtClean="0"/>
              <a:t> </a:t>
            </a:r>
            <a:r>
              <a:rPr lang="en-US" dirty="0" err="1" smtClean="0"/>
              <a:t>int</a:t>
            </a:r>
            <a:r>
              <a:rPr lang="en-US" dirty="0" smtClean="0"/>
              <a:t>, @b </a:t>
            </a:r>
            <a:r>
              <a:rPr lang="en-US" dirty="0" err="1" smtClean="0"/>
              <a:t>int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select @max=</a:t>
            </a:r>
            <a:r>
              <a:rPr lang="en-US" dirty="0" err="1" smtClean="0"/>
              <a:t>isnull</a:t>
            </a:r>
            <a:r>
              <a:rPr lang="en-US" dirty="0" smtClean="0"/>
              <a:t>(max(a),0) from </a:t>
            </a:r>
            <a:r>
              <a:rPr lang="en-US" dirty="0" err="1" smtClean="0"/>
              <a:t>proba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declare </a:t>
            </a:r>
            <a:r>
              <a:rPr lang="en-US" dirty="0" err="1" smtClean="0"/>
              <a:t>mycursor</a:t>
            </a:r>
            <a:r>
              <a:rPr lang="en-US" dirty="0" smtClean="0"/>
              <a:t> cursor for select b from inserted </a:t>
            </a:r>
            <a:br>
              <a:rPr lang="en-US" dirty="0" smtClean="0"/>
            </a:br>
            <a:r>
              <a:rPr lang="en-US" dirty="0" smtClean="0"/>
              <a:t>open </a:t>
            </a:r>
            <a:r>
              <a:rPr lang="en-US" dirty="0" err="1" smtClean="0"/>
              <a:t>mycursor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fetch next from </a:t>
            </a:r>
            <a:r>
              <a:rPr lang="en-US" dirty="0" err="1" smtClean="0"/>
              <a:t>mycursor</a:t>
            </a:r>
            <a:r>
              <a:rPr lang="en-US" dirty="0" smtClean="0"/>
              <a:t> into @b </a:t>
            </a:r>
            <a:br>
              <a:rPr lang="en-US" dirty="0" smtClean="0"/>
            </a:br>
            <a:r>
              <a:rPr lang="en-US" dirty="0" smtClean="0"/>
              <a:t>while @@</a:t>
            </a:r>
            <a:r>
              <a:rPr lang="en-US" dirty="0" err="1" smtClean="0"/>
              <a:t>fetch_status</a:t>
            </a:r>
            <a:r>
              <a:rPr lang="en-US" dirty="0" smtClean="0"/>
              <a:t>=0 </a:t>
            </a:r>
            <a:br>
              <a:rPr lang="en-US" dirty="0" smtClean="0"/>
            </a:br>
            <a:r>
              <a:rPr lang="en-US" dirty="0" smtClean="0"/>
              <a:t>begin </a:t>
            </a:r>
            <a:br>
              <a:rPr lang="en-US" dirty="0" smtClean="0"/>
            </a:br>
            <a:r>
              <a:rPr lang="en-US" dirty="0" smtClean="0"/>
              <a:t>	insert into </a:t>
            </a:r>
            <a:r>
              <a:rPr lang="en-US" dirty="0" err="1" smtClean="0"/>
              <a:t>proba</a:t>
            </a:r>
            <a:r>
              <a:rPr lang="en-US" dirty="0" smtClean="0"/>
              <a:t> values (@max+1,@b) </a:t>
            </a:r>
            <a:br>
              <a:rPr lang="en-US" dirty="0" smtClean="0"/>
            </a:br>
            <a:r>
              <a:rPr lang="en-US" dirty="0" smtClean="0"/>
              <a:t>	Set @max=@max+1 </a:t>
            </a:r>
            <a:br>
              <a:rPr lang="en-US" dirty="0" smtClean="0"/>
            </a:br>
            <a:r>
              <a:rPr lang="en-US" dirty="0" smtClean="0"/>
              <a:t>fetch next from </a:t>
            </a:r>
            <a:r>
              <a:rPr lang="en-US" dirty="0" err="1" smtClean="0"/>
              <a:t>mycursor</a:t>
            </a:r>
            <a:r>
              <a:rPr lang="en-US" dirty="0" smtClean="0"/>
              <a:t> into @b </a:t>
            </a:r>
            <a:br>
              <a:rPr lang="en-US" dirty="0" smtClean="0"/>
            </a:br>
            <a:r>
              <a:rPr lang="en-US" dirty="0" smtClean="0"/>
              <a:t>end </a:t>
            </a:r>
            <a:br>
              <a:rPr lang="en-US" dirty="0" smtClean="0"/>
            </a:br>
            <a:r>
              <a:rPr lang="en-US" dirty="0" smtClean="0"/>
              <a:t>close </a:t>
            </a:r>
            <a:r>
              <a:rPr lang="en-US" dirty="0" err="1" smtClean="0"/>
              <a:t>mycursor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err="1" smtClean="0"/>
              <a:t>deallocate</a:t>
            </a:r>
            <a:r>
              <a:rPr lang="en-US" dirty="0" smtClean="0"/>
              <a:t> </a:t>
            </a:r>
            <a:r>
              <a:rPr lang="en-US" dirty="0" err="1" smtClean="0"/>
              <a:t>mycursor</a:t>
            </a:r>
            <a:r>
              <a:rPr lang="en-US" dirty="0" smtClean="0"/>
              <a:t> </a:t>
            </a:r>
            <a:br>
              <a:rPr lang="en-US" dirty="0" smtClean="0"/>
            </a:br>
            <a:r>
              <a:rPr lang="en-US" dirty="0" smtClean="0"/>
              <a:t>end</a:t>
            </a:r>
          </a:p>
          <a:p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65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04800" y="1035558"/>
          <a:ext cx="7696200" cy="5354547"/>
        </p:xfrm>
        <a:graphic>
          <a:graphicData uri="http://schemas.openxmlformats.org/drawingml/2006/table">
            <a:tbl>
              <a:tblPr/>
              <a:tblGrid>
                <a:gridCol w="237393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653284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6689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04882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latin typeface="Times New Roman"/>
                          <a:ea typeface="Times New Roman"/>
                          <a:cs typeface="Times New Roman"/>
                        </a:rPr>
                        <a:t>Функция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 dirty="0">
                          <a:latin typeface="Times New Roman"/>
                          <a:ea typeface="Times New Roman"/>
                          <a:cs typeface="Times New Roman"/>
                        </a:rPr>
                        <a:t>Триггер</a:t>
                      </a:r>
                      <a:r>
                        <a:rPr lang="en-US" sz="1000" b="1" dirty="0">
                          <a:latin typeface="Times New Roman"/>
                          <a:ea typeface="Times New Roman"/>
                          <a:cs typeface="Times New Roman"/>
                        </a:rPr>
                        <a:t> AFTER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ru-RU" sz="1000" b="1">
                          <a:latin typeface="Times New Roman"/>
                          <a:ea typeface="Times New Roman"/>
                          <a:cs typeface="Times New Roman"/>
                        </a:rPr>
                        <a:t>Триггер</a:t>
                      </a:r>
                      <a:r>
                        <a:rPr lang="en-US" sz="1000" b="1">
                          <a:latin typeface="Times New Roman"/>
                          <a:ea typeface="Times New Roman"/>
                          <a:cs typeface="Times New Roman"/>
                        </a:rPr>
                        <a:t> INSTEAD OF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568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Сущности, к которым применяется триггер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Таблицы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Таблицы и представления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9886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Количество триггеров на таблицу или представление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Несколько триггеров на одно запускающее триггеры действие (UPDATE, DELETE или INSERT). sp_settriggerorder  позволяет задать порядок выполнения триггеров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Один триггер на одно запускающее триггеры действие (UPDATE, DELETE или INSERT).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7704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Каскадные ссылки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Нет ограничений.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Триггеры INSTEAD OF UPDATE и DELETE нельзя определять для таблиц, на которые распространяются каскадные ограничения ссылочной целостности.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027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Выполнение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После следующих операций.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Обработка ограничений.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Декларативные ссылочные действия.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Создание таблиц </a:t>
                      </a:r>
                      <a:r>
                        <a:rPr lang="ru-RU" sz="1000" b="1">
                          <a:latin typeface="Times New Roman"/>
                          <a:ea typeface="Times New Roman"/>
                          <a:cs typeface="Times New Roman"/>
                        </a:rPr>
                        <a:t>inserted</a:t>
                      </a: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 и </a:t>
                      </a:r>
                      <a:r>
                        <a:rPr lang="ru-RU" sz="1000" b="1">
                          <a:latin typeface="Times New Roman"/>
                          <a:ea typeface="Times New Roman"/>
                          <a:cs typeface="Times New Roman"/>
                        </a:rPr>
                        <a:t>deleted</a:t>
                      </a: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Действие, запускающее триггер.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Перед следующей операцией.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/>
                        <a:buChar char=""/>
                        <a:tabLst>
                          <a:tab pos="200660" algn="l"/>
                        </a:tabLs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Обработка ограничений.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Вместо следующей операции. 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15000"/>
                        </a:lnSpc>
                        <a:spcAft>
                          <a:spcPts val="0"/>
                        </a:spcAft>
                        <a:buSzPts val="1000"/>
                        <a:buFont typeface="Symbol"/>
                        <a:buChar char=""/>
                        <a:tabLst>
                          <a:tab pos="110490" algn="l"/>
                        </a:tabLs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Действие, запускающее триггер.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После следующих операций. 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  <a:p>
                      <a:pPr marL="342900" lvl="0" indent="-342900" algn="just">
                        <a:lnSpc>
                          <a:spcPct val="115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Создание таблиц </a:t>
                      </a:r>
                      <a:r>
                        <a:rPr lang="ru-RU" sz="1000" b="1" dirty="0">
                          <a:latin typeface="Times New Roman"/>
                          <a:ea typeface="Times New Roman"/>
                          <a:cs typeface="Times New Roman"/>
                        </a:rPr>
                        <a:t>inserted</a:t>
                      </a: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 и </a:t>
                      </a:r>
                      <a:r>
                        <a:rPr lang="ru-RU" sz="1000" b="1" dirty="0">
                          <a:latin typeface="Times New Roman"/>
                          <a:ea typeface="Times New Roman"/>
                          <a:cs typeface="Times New Roman"/>
                        </a:rPr>
                        <a:t>deleted</a:t>
                      </a: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.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852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Порядок выполнения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Можно задать выполнение в первую и в последнюю очередь.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Неприменимо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568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При возникновении ошибки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Нужно выполнить откат транзакции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Дополнительные действия не нужны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852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При успешном завершении работы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Дополнительные действия не нужны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Нужно выполнить действие запустившее триггер (данные из таблиц </a:t>
                      </a:r>
                      <a:r>
                        <a:rPr lang="ru-RU" sz="1000" b="1" dirty="0">
                          <a:latin typeface="Times New Roman"/>
                          <a:ea typeface="Times New Roman"/>
                          <a:cs typeface="Times New Roman"/>
                        </a:rPr>
                        <a:t>inserted</a:t>
                      </a: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 и </a:t>
                      </a:r>
                      <a:r>
                        <a:rPr lang="ru-RU" sz="1000" b="1" dirty="0">
                          <a:latin typeface="Times New Roman"/>
                          <a:ea typeface="Times New Roman"/>
                          <a:cs typeface="Times New Roman"/>
                        </a:rPr>
                        <a:t>deleted</a:t>
                      </a: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)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6420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Ссылки на столбцы varchar(max), nvarchar(max) и varbinary(max) в таблицах </a:t>
                      </a:r>
                      <a:r>
                        <a:rPr lang="ru-RU" sz="1000" b="1">
                          <a:latin typeface="Times New Roman"/>
                          <a:ea typeface="Times New Roman"/>
                          <a:cs typeface="Times New Roman"/>
                        </a:rPr>
                        <a:t>inserted</a:t>
                      </a: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 и </a:t>
                      </a:r>
                      <a:r>
                        <a:rPr lang="ru-RU" sz="1000" b="1">
                          <a:latin typeface="Times New Roman"/>
                          <a:ea typeface="Times New Roman"/>
                          <a:cs typeface="Times New Roman"/>
                        </a:rPr>
                        <a:t>deleted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Разрешены.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Разрешены.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852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Ссылки на столбцы text, ntext и image в таблицах </a:t>
                      </a:r>
                      <a:r>
                        <a:rPr lang="ru-RU" sz="1000" b="1">
                          <a:latin typeface="Times New Roman"/>
                          <a:ea typeface="Times New Roman"/>
                          <a:cs typeface="Times New Roman"/>
                        </a:rPr>
                        <a:t>inserted</a:t>
                      </a: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 и </a:t>
                      </a:r>
                      <a:r>
                        <a:rPr lang="ru-RU" sz="1000" b="1">
                          <a:latin typeface="Times New Roman"/>
                          <a:ea typeface="Times New Roman"/>
                          <a:cs typeface="Times New Roman"/>
                        </a:rPr>
                        <a:t>deleted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latin typeface="Times New Roman"/>
                          <a:ea typeface="Times New Roman"/>
                          <a:cs typeface="Times New Roman"/>
                        </a:rPr>
                        <a:t>Не допускается</a:t>
                      </a:r>
                      <a:endParaRPr lang="ru-RU" sz="10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latin typeface="Times New Roman"/>
                          <a:ea typeface="Times New Roman"/>
                          <a:cs typeface="Times New Roman"/>
                        </a:rPr>
                        <a:t>Разрешены</a:t>
                      </a:r>
                      <a:endParaRPr lang="ru-RU" sz="10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32704" marR="3270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685800"/>
            <a:ext cx="5587068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304800" y="2362200"/>
            <a:ext cx="83820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err="1" smtClean="0"/>
              <a:t>msg_id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Номер сообщения об ошибке, определенного пользователем, которое сохранено в представлении каталога </a:t>
            </a:r>
            <a:r>
              <a:rPr lang="ru-RU" dirty="0" err="1" smtClean="0"/>
              <a:t>sys.messages</a:t>
            </a:r>
            <a:r>
              <a:rPr lang="ru-RU" dirty="0" smtClean="0"/>
              <a:t> при помощи процедуры </a:t>
            </a:r>
            <a:r>
              <a:rPr lang="ru-RU" dirty="0" err="1" smtClean="0"/>
              <a:t>sp_addmessage</a:t>
            </a:r>
            <a:r>
              <a:rPr lang="ru-RU" dirty="0" smtClean="0"/>
              <a:t>. </a:t>
            </a:r>
            <a:endParaRPr lang="en-US" dirty="0" smtClean="0"/>
          </a:p>
          <a:p>
            <a:r>
              <a:rPr lang="ru-RU" i="1" dirty="0" err="1" smtClean="0"/>
              <a:t>msg_str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Определенное пользователем сообщение с форматом, аналогичным формату функции </a:t>
            </a:r>
            <a:r>
              <a:rPr lang="ru-RU" b="1" dirty="0" err="1" smtClean="0"/>
              <a:t>printf</a:t>
            </a:r>
            <a:r>
              <a:rPr lang="ru-RU" dirty="0" smtClean="0"/>
              <a:t> из стандартной библиотеки языка </a:t>
            </a:r>
            <a:endParaRPr lang="en-US" dirty="0" smtClean="0"/>
          </a:p>
          <a:p>
            <a:r>
              <a:rPr lang="ru-RU" i="1" dirty="0" err="1" smtClean="0"/>
              <a:t>severity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Определенная пользователем степень серьезности, связанный с этим сообщением. Степень серьезности от 0 до 18 может указать любой пользователь. Уровни серьезности от 19 до 25 могут быть указаны только членами предопределенной роли сервера </a:t>
            </a:r>
            <a:r>
              <a:rPr lang="ru-RU" dirty="0" err="1" smtClean="0"/>
              <a:t>sysadmin</a:t>
            </a:r>
            <a:r>
              <a:rPr lang="ru-RU" dirty="0" smtClean="0"/>
              <a:t> и пользователями с разрешениями ALTER TRACE. Для степеней серьезности от 19 до 25 требуется параметр WITH LOG.</a:t>
            </a:r>
            <a:endParaRPr lang="en-US" dirty="0" smtClean="0"/>
          </a:p>
          <a:p>
            <a:endParaRPr lang="ru-RU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5791200"/>
            <a:ext cx="680085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5587068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228600" y="1676400"/>
            <a:ext cx="8915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err="1" smtClean="0"/>
              <a:t>state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Целое число от 0 до 255. Для отрицательных значений по умолчанию используется 1. </a:t>
            </a:r>
            <a:r>
              <a:rPr lang="en-US" dirty="0" smtClean="0"/>
              <a:t> </a:t>
            </a:r>
            <a:r>
              <a:rPr lang="ru-RU" dirty="0" smtClean="0"/>
              <a:t>Значения больше 255 использовать не следует.</a:t>
            </a:r>
          </a:p>
          <a:p>
            <a:r>
              <a:rPr lang="ru-RU" dirty="0" smtClean="0"/>
              <a:t>Если одна и та же пользовательская ошибка возникает в нескольких местах, то при помощи уникального номера состояния для каждого местоположения можно определить, в каком месте кода появилась ошибка.</a:t>
            </a:r>
          </a:p>
          <a:p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505200"/>
            <a:ext cx="5734050" cy="1181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4724400"/>
            <a:ext cx="530542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457200"/>
            <a:ext cx="5248275" cy="477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3705225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Box 2"/>
          <p:cNvSpPr txBox="1"/>
          <p:nvPr/>
        </p:nvSpPr>
        <p:spPr>
          <a:xfrm>
            <a:off x="228600" y="1371600"/>
            <a:ext cx="7848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i="1" dirty="0" err="1" smtClean="0"/>
              <a:t>error_number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Константа или переменная, представляющая исключение. Аргумент </a:t>
            </a:r>
            <a:r>
              <a:rPr lang="ru-RU" i="1" dirty="0" err="1" smtClean="0"/>
              <a:t>error_number</a:t>
            </a:r>
            <a:r>
              <a:rPr lang="ru-RU" dirty="0" smtClean="0"/>
              <a:t> имеет тип </a:t>
            </a:r>
            <a:r>
              <a:rPr lang="ru-RU" b="1" dirty="0" err="1" smtClean="0"/>
              <a:t>int</a:t>
            </a:r>
            <a:r>
              <a:rPr lang="ru-RU" dirty="0" smtClean="0"/>
              <a:t>, должен иметь значение не меньше 50 000 и не больше 2 147 483 647.</a:t>
            </a:r>
          </a:p>
          <a:p>
            <a:r>
              <a:rPr lang="ru-RU" i="1" dirty="0" err="1" smtClean="0"/>
              <a:t>message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Строка или переменная, описывающая исключение. Аргумент </a:t>
            </a:r>
            <a:r>
              <a:rPr lang="ru-RU" i="1" dirty="0" err="1" smtClean="0"/>
              <a:t>message</a:t>
            </a:r>
            <a:r>
              <a:rPr lang="ru-RU" dirty="0" smtClean="0"/>
              <a:t> имеет тип </a:t>
            </a:r>
            <a:r>
              <a:rPr lang="ru-RU" b="1" dirty="0" err="1" smtClean="0"/>
              <a:t>nvarchar</a:t>
            </a:r>
            <a:r>
              <a:rPr lang="ru-RU" b="1" dirty="0" smtClean="0"/>
              <a:t>(2048)</a:t>
            </a:r>
            <a:r>
              <a:rPr lang="ru-RU" dirty="0" smtClean="0"/>
              <a:t> .</a:t>
            </a:r>
          </a:p>
          <a:p>
            <a:r>
              <a:rPr lang="ru-RU" i="1" dirty="0" err="1" smtClean="0"/>
              <a:t>state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Константа или переменная со значением в диапазоне от 0 до 255, указывающие состояние, которое должно быть связано с сообщением. Аргумент </a:t>
            </a:r>
            <a:r>
              <a:rPr lang="ru-RU" i="1" dirty="0" err="1" smtClean="0"/>
              <a:t>state</a:t>
            </a:r>
            <a:r>
              <a:rPr lang="ru-RU" dirty="0" smtClean="0"/>
              <a:t> имеет тип </a:t>
            </a:r>
            <a:r>
              <a:rPr lang="ru-RU" b="1" dirty="0" err="1" smtClean="0"/>
              <a:t>tinyint</a:t>
            </a:r>
            <a:r>
              <a:rPr lang="ru-RU" dirty="0" smtClean="0"/>
              <a:t>.</a:t>
            </a:r>
          </a:p>
          <a:p>
            <a:endParaRPr lang="ru-RU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4562475"/>
            <a:ext cx="569595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52400"/>
            <a:ext cx="7991475" cy="436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extBox 1"/>
          <p:cNvSpPr txBox="1"/>
          <p:nvPr/>
        </p:nvSpPr>
        <p:spPr>
          <a:xfrm>
            <a:off x="228600" y="4535966"/>
            <a:ext cx="88392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Если выполнена инструкция SET XACT_ABORT ON и инструкция языка </a:t>
            </a:r>
            <a:r>
              <a:rPr lang="ru-RU" dirty="0" err="1"/>
              <a:t>Transact</a:t>
            </a:r>
            <a:r>
              <a:rPr lang="ru-RU" dirty="0"/>
              <a:t>-SQL вызывает ошибку, вся транзакция завершается и выполняется ее откат.</a:t>
            </a:r>
          </a:p>
          <a:p>
            <a:endParaRPr lang="ru-RU" dirty="0"/>
          </a:p>
          <a:p>
            <a:r>
              <a:rPr lang="ru-RU" dirty="0"/>
              <a:t>Если выполнена инструкция SET XACT_ABORT OFF, в некоторых случаях выполняется откат только вызвавшей ошибку инструкции языка </a:t>
            </a:r>
            <a:r>
              <a:rPr lang="ru-RU" dirty="0" err="1"/>
              <a:t>Transact</a:t>
            </a:r>
            <a:r>
              <a:rPr lang="ru-RU" dirty="0"/>
              <a:t>-SQL, а обработка транзакции продолжается. В зависимости от серьезности ошибки возможен откат всей транзакции при выполненной инструкции SET XACT_ABORT OFF. OFF — это значение по умолчанию в инструкции T-SQL, а ON — значение по умолчанию в триггере.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71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381000" y="948690"/>
            <a:ext cx="8305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ru-RU" b="1" dirty="0" smtClean="0"/>
              <a:t>Триггеры DDL и области их применения</a:t>
            </a:r>
          </a:p>
          <a:p>
            <a:endParaRPr lang="ru-RU" dirty="0" smtClean="0"/>
          </a:p>
          <a:p>
            <a:r>
              <a:rPr lang="en-US" b="1" dirty="0" smtClean="0"/>
              <a:t>CREATE</a:t>
            </a:r>
            <a:r>
              <a:rPr lang="en-US" dirty="0" smtClean="0"/>
              <a:t> </a:t>
            </a:r>
            <a:r>
              <a:rPr lang="en-US" b="1" dirty="0" smtClean="0"/>
              <a:t>TRIGGER</a:t>
            </a:r>
            <a:r>
              <a:rPr lang="en-US" dirty="0" smtClean="0"/>
              <a:t> [</a:t>
            </a:r>
            <a:r>
              <a:rPr lang="en-US" dirty="0" err="1" smtClean="0"/>
              <a:t>schema_name</a:t>
            </a:r>
            <a:r>
              <a:rPr lang="en-US" dirty="0" smtClean="0"/>
              <a:t>.]</a:t>
            </a:r>
            <a:r>
              <a:rPr lang="en-US" dirty="0" err="1" smtClean="0"/>
              <a:t>trigger_name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en-US" b="1" dirty="0" smtClean="0"/>
              <a:t>ON</a:t>
            </a:r>
            <a:r>
              <a:rPr lang="ru-RU" b="1" dirty="0" smtClean="0"/>
              <a:t> </a:t>
            </a:r>
            <a:r>
              <a:rPr lang="en-US" dirty="0" smtClean="0"/>
              <a:t> {</a:t>
            </a:r>
            <a:r>
              <a:rPr lang="en-US" b="1" dirty="0" smtClean="0"/>
              <a:t>ALL</a:t>
            </a:r>
            <a:r>
              <a:rPr lang="en-US" dirty="0" smtClean="0"/>
              <a:t> </a:t>
            </a:r>
            <a:r>
              <a:rPr lang="en-US" b="1" dirty="0" smtClean="0"/>
              <a:t>SERVER</a:t>
            </a:r>
            <a:r>
              <a:rPr lang="en-US" dirty="0" smtClean="0"/>
              <a:t> | </a:t>
            </a:r>
            <a:r>
              <a:rPr lang="en-US" b="1" dirty="0" smtClean="0"/>
              <a:t>DATABASE</a:t>
            </a:r>
            <a:r>
              <a:rPr lang="en-US" dirty="0" smtClean="0"/>
              <a:t> }</a:t>
            </a:r>
            <a:endParaRPr lang="ru-RU" dirty="0" smtClean="0"/>
          </a:p>
          <a:p>
            <a:r>
              <a:rPr lang="en-US" dirty="0" smtClean="0"/>
              <a:t> [</a:t>
            </a:r>
            <a:r>
              <a:rPr lang="en-US" b="1" dirty="0" smtClean="0"/>
              <a:t>WITH</a:t>
            </a:r>
            <a:r>
              <a:rPr lang="en-US" dirty="0" smtClean="0"/>
              <a:t> {ENCRYPTION | </a:t>
            </a:r>
            <a:r>
              <a:rPr lang="en-US" b="1" dirty="0" smtClean="0"/>
              <a:t>EXECUTE</a:t>
            </a:r>
            <a:r>
              <a:rPr lang="en-US" dirty="0" smtClean="0"/>
              <a:t> </a:t>
            </a:r>
            <a:r>
              <a:rPr lang="en-US" b="1" dirty="0" smtClean="0"/>
              <a:t>AS</a:t>
            </a:r>
            <a:r>
              <a:rPr lang="en-US" dirty="0" smtClean="0"/>
              <a:t> </a:t>
            </a:r>
            <a:r>
              <a:rPr lang="en-US" dirty="0" err="1" smtClean="0"/>
              <a:t>clause_name</a:t>
            </a:r>
            <a:r>
              <a:rPr lang="en-US" dirty="0" smtClean="0"/>
              <a:t>]</a:t>
            </a:r>
            <a:endParaRPr lang="ru-RU" dirty="0" smtClean="0"/>
          </a:p>
          <a:p>
            <a:r>
              <a:rPr lang="en-US" dirty="0" smtClean="0"/>
              <a:t> {</a:t>
            </a:r>
            <a:r>
              <a:rPr lang="en-US" b="1" dirty="0" smtClean="0"/>
              <a:t>FOR</a:t>
            </a:r>
            <a:r>
              <a:rPr lang="en-US" dirty="0" smtClean="0"/>
              <a:t> | </a:t>
            </a:r>
            <a:r>
              <a:rPr lang="en-US" b="1" dirty="0" smtClean="0"/>
              <a:t>AFTER</a:t>
            </a:r>
            <a:r>
              <a:rPr lang="en-US" dirty="0" smtClean="0"/>
              <a:t> } { </a:t>
            </a:r>
            <a:r>
              <a:rPr lang="en-US" dirty="0" err="1" smtClean="0"/>
              <a:t>event_group</a:t>
            </a:r>
            <a:r>
              <a:rPr lang="en-US" dirty="0" smtClean="0"/>
              <a:t> | </a:t>
            </a:r>
            <a:r>
              <a:rPr lang="en-US" dirty="0" err="1" smtClean="0"/>
              <a:t>event_type</a:t>
            </a:r>
            <a:r>
              <a:rPr lang="en-US" dirty="0" smtClean="0"/>
              <a:t> | LOGON}</a:t>
            </a:r>
            <a:endParaRPr lang="ru-RU" dirty="0" smtClean="0"/>
          </a:p>
          <a:p>
            <a:r>
              <a:rPr lang="en-US" dirty="0" smtClean="0"/>
              <a:t> </a:t>
            </a:r>
            <a:r>
              <a:rPr lang="en-US" b="1" dirty="0" smtClean="0"/>
              <a:t>AS</a:t>
            </a:r>
            <a:r>
              <a:rPr lang="en-US" dirty="0" smtClean="0"/>
              <a:t> </a:t>
            </a:r>
            <a:endParaRPr lang="ru-RU" dirty="0" smtClean="0"/>
          </a:p>
          <a:p>
            <a:r>
              <a:rPr lang="ru-RU" dirty="0" smtClean="0"/>
              <a:t>	</a:t>
            </a:r>
            <a:r>
              <a:rPr lang="en-US" dirty="0" smtClean="0"/>
              <a:t>{batch | </a:t>
            </a:r>
            <a:r>
              <a:rPr lang="en-US" b="1" dirty="0" smtClean="0"/>
              <a:t>EXTERNAL</a:t>
            </a:r>
            <a:r>
              <a:rPr lang="en-US" dirty="0" smtClean="0"/>
              <a:t> NAME </a:t>
            </a:r>
            <a:r>
              <a:rPr lang="en-US" dirty="0" err="1" smtClean="0"/>
              <a:t>method_name</a:t>
            </a:r>
            <a:r>
              <a:rPr lang="en-US" dirty="0" smtClean="0"/>
              <a:t>} </a:t>
            </a:r>
            <a:br>
              <a:rPr lang="en-US" dirty="0" smtClean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Номер слайда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8BDDFAE-8AAC-4D1D-B960-7EC95F63418B}" type="slidenum">
              <a:rPr lang="ru-RU" smtClean="0"/>
              <a:pPr/>
              <a:t>72</a:t>
            </a:fld>
            <a:endParaRPr lang="ru-RU" dirty="0" smtClean="0"/>
          </a:p>
        </p:txBody>
      </p:sp>
      <p:sp>
        <p:nvSpPr>
          <p:cNvPr id="4099" name="Line 2"/>
          <p:cNvSpPr>
            <a:spLocks noChangeShapeType="1"/>
          </p:cNvSpPr>
          <p:nvPr/>
        </p:nvSpPr>
        <p:spPr bwMode="auto">
          <a:xfrm>
            <a:off x="376238" y="795338"/>
            <a:ext cx="8464550" cy="0"/>
          </a:xfrm>
          <a:prstGeom prst="line">
            <a:avLst/>
          </a:prstGeom>
          <a:noFill/>
          <a:ln w="38100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/>
          <a:p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304800" y="990600"/>
            <a:ext cx="8839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sz="2400" i="1" dirty="0" smtClean="0"/>
          </a:p>
          <a:p>
            <a:endParaRPr lang="ru-RU" sz="2400" i="1" dirty="0" smtClean="0"/>
          </a:p>
        </p:txBody>
      </p:sp>
      <p:sp>
        <p:nvSpPr>
          <p:cNvPr id="7" name="TextBox 6"/>
          <p:cNvSpPr txBox="1"/>
          <p:nvPr/>
        </p:nvSpPr>
        <p:spPr>
          <a:xfrm>
            <a:off x="228600" y="914400"/>
            <a:ext cx="8610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ru-RU" sz="2400" dirty="0" smtClean="0"/>
          </a:p>
          <a:p>
            <a:endParaRPr lang="ru-RU" sz="2400" i="1" dirty="0"/>
          </a:p>
        </p:txBody>
      </p:sp>
      <p:sp>
        <p:nvSpPr>
          <p:cNvPr id="10" name="TextBox 9"/>
          <p:cNvSpPr txBox="1"/>
          <p:nvPr/>
        </p:nvSpPr>
        <p:spPr>
          <a:xfrm>
            <a:off x="228600" y="1066800"/>
            <a:ext cx="8686800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 algn="just">
              <a:buFont typeface="+mj-lt"/>
              <a:buAutoNum type="arabicPeriod"/>
            </a:pPr>
            <a:endParaRPr lang="ru-RU" sz="2000" dirty="0" smtClean="0"/>
          </a:p>
          <a:p>
            <a:pPr algn="just"/>
            <a:endParaRPr lang="ru-RU" sz="2400" b="1" dirty="0" smtClean="0"/>
          </a:p>
          <a:p>
            <a:pPr algn="just"/>
            <a:endParaRPr lang="ru-RU" sz="2400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pPr algn="just"/>
            <a:endParaRPr lang="ru-RU" b="1" dirty="0" smtClean="0"/>
          </a:p>
          <a:p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381000" y="1219200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 smtClean="0"/>
          </a:p>
          <a:p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609600" y="304800"/>
            <a:ext cx="6781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 smtClean="0">
                <a:latin typeface="Times New Roman"/>
                <a:ea typeface="Times New Roman"/>
                <a:cs typeface="Times New Roman"/>
              </a:rPr>
              <a:t>Процедурные расширения SQL</a:t>
            </a:r>
            <a:endParaRPr lang="ru-RU" dirty="0" smtClean="0">
              <a:ea typeface="Calibri"/>
              <a:cs typeface="Times New Roman"/>
            </a:endParaRPr>
          </a:p>
          <a:p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304800" y="838200"/>
            <a:ext cx="853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381000" y="948690"/>
            <a:ext cx="8305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b="1" dirty="0" smtClean="0"/>
              <a:t>USE</a:t>
            </a:r>
            <a:r>
              <a:rPr lang="en-US" dirty="0" smtClean="0"/>
              <a:t> </a:t>
            </a:r>
            <a:r>
              <a:rPr lang="en-US" b="1" dirty="0" smtClean="0"/>
              <a:t>master</a:t>
            </a:r>
            <a:r>
              <a:rPr lang="en-US" dirty="0" smtClean="0"/>
              <a:t>; </a:t>
            </a:r>
            <a:endParaRPr lang="ru-RU" dirty="0" smtClean="0"/>
          </a:p>
          <a:p>
            <a:pPr fontAlgn="base"/>
            <a:r>
              <a:rPr lang="en-US" b="1" dirty="0" smtClean="0"/>
              <a:t>CREATE</a:t>
            </a:r>
            <a:r>
              <a:rPr lang="en-US" dirty="0" smtClean="0"/>
              <a:t> LOGIN </a:t>
            </a:r>
            <a:r>
              <a:rPr lang="en-US" dirty="0" err="1" smtClean="0"/>
              <a:t>loginTest</a:t>
            </a:r>
            <a:r>
              <a:rPr lang="en-US" dirty="0" smtClean="0"/>
              <a:t> </a:t>
            </a:r>
            <a:r>
              <a:rPr lang="en-US" b="1" dirty="0" smtClean="0"/>
              <a:t>WITH</a:t>
            </a:r>
            <a:r>
              <a:rPr lang="en-US" dirty="0" smtClean="0"/>
              <a:t> </a:t>
            </a:r>
            <a:r>
              <a:rPr lang="en-US" b="1" dirty="0" smtClean="0"/>
              <a:t>PASSWORD</a:t>
            </a:r>
            <a:r>
              <a:rPr lang="en-US" dirty="0" smtClean="0"/>
              <a:t> = '12345!', CHECK_EXPIRATION = </a:t>
            </a:r>
            <a:r>
              <a:rPr lang="en-US" b="1" dirty="0" smtClean="0"/>
              <a:t>ON</a:t>
            </a:r>
            <a:r>
              <a:rPr lang="en-US" dirty="0" smtClean="0"/>
              <a:t>; </a:t>
            </a:r>
            <a:endParaRPr lang="ru-RU" dirty="0" smtClean="0"/>
          </a:p>
          <a:p>
            <a:pPr fontAlgn="base"/>
            <a:endParaRPr lang="ru-RU" dirty="0" smtClean="0"/>
          </a:p>
          <a:p>
            <a:pPr fontAlgn="base"/>
            <a:r>
              <a:rPr lang="en-US" b="1" dirty="0" smtClean="0"/>
              <a:t>GRANT</a:t>
            </a:r>
            <a:r>
              <a:rPr lang="en-US" dirty="0" smtClean="0"/>
              <a:t> </a:t>
            </a:r>
            <a:r>
              <a:rPr lang="en-US" b="1" dirty="0" smtClean="0"/>
              <a:t>VIEW</a:t>
            </a:r>
            <a:r>
              <a:rPr lang="en-US" dirty="0" smtClean="0"/>
              <a:t> </a:t>
            </a:r>
            <a:r>
              <a:rPr lang="en-US" b="1" dirty="0" smtClean="0"/>
              <a:t>SERVER</a:t>
            </a:r>
            <a:r>
              <a:rPr lang="en-US" dirty="0" smtClean="0"/>
              <a:t> STATE </a:t>
            </a:r>
            <a:r>
              <a:rPr lang="en-US" b="1" dirty="0" smtClean="0"/>
              <a:t>TO</a:t>
            </a:r>
            <a:r>
              <a:rPr lang="en-US" dirty="0" smtClean="0"/>
              <a:t> </a:t>
            </a:r>
            <a:r>
              <a:rPr lang="en-US" dirty="0" err="1" smtClean="0"/>
              <a:t>loginTest</a:t>
            </a:r>
            <a:r>
              <a:rPr lang="en-US" dirty="0" smtClean="0"/>
              <a:t>; </a:t>
            </a:r>
            <a:endParaRPr lang="ru-RU" dirty="0" smtClean="0"/>
          </a:p>
          <a:p>
            <a:pPr fontAlgn="base"/>
            <a:r>
              <a:rPr lang="en-US" b="1" dirty="0" smtClean="0"/>
              <a:t>CREATE</a:t>
            </a:r>
            <a:r>
              <a:rPr lang="en-US" dirty="0" smtClean="0"/>
              <a:t> </a:t>
            </a:r>
            <a:r>
              <a:rPr lang="en-US" b="1" dirty="0" smtClean="0"/>
              <a:t>TRIGGER</a:t>
            </a:r>
            <a:r>
              <a:rPr lang="en-US" dirty="0" smtClean="0"/>
              <a:t> </a:t>
            </a:r>
            <a:r>
              <a:rPr lang="en-US" dirty="0" err="1" smtClean="0"/>
              <a:t>trigger_ConnectionLimit</a:t>
            </a:r>
            <a:r>
              <a:rPr lang="en-US" dirty="0" smtClean="0"/>
              <a:t> </a:t>
            </a:r>
            <a:endParaRPr lang="ru-RU" dirty="0" smtClean="0"/>
          </a:p>
          <a:p>
            <a:pPr fontAlgn="base"/>
            <a:r>
              <a:rPr lang="en-US" b="1" dirty="0" smtClean="0"/>
              <a:t>ON</a:t>
            </a:r>
            <a:r>
              <a:rPr lang="en-US" dirty="0" smtClean="0"/>
              <a:t> </a:t>
            </a:r>
            <a:r>
              <a:rPr lang="en-US" b="1" dirty="0" smtClean="0"/>
              <a:t>ALL</a:t>
            </a:r>
            <a:r>
              <a:rPr lang="en-US" dirty="0" smtClean="0"/>
              <a:t> </a:t>
            </a:r>
            <a:r>
              <a:rPr lang="en-US" b="1" dirty="0" smtClean="0"/>
              <a:t>SERVER</a:t>
            </a:r>
            <a:r>
              <a:rPr lang="en-US" dirty="0" smtClean="0"/>
              <a:t> </a:t>
            </a:r>
            <a:r>
              <a:rPr lang="en-US" b="1" dirty="0" smtClean="0"/>
              <a:t>WITH</a:t>
            </a:r>
            <a:r>
              <a:rPr lang="en-US" dirty="0" smtClean="0"/>
              <a:t> </a:t>
            </a:r>
            <a:r>
              <a:rPr lang="en-US" b="1" dirty="0" smtClean="0"/>
              <a:t>EXECUTE</a:t>
            </a:r>
            <a:r>
              <a:rPr lang="en-US" dirty="0" smtClean="0"/>
              <a:t> </a:t>
            </a:r>
            <a:r>
              <a:rPr lang="en-US" b="1" dirty="0" smtClean="0"/>
              <a:t>AS</a:t>
            </a:r>
            <a:r>
              <a:rPr lang="en-US" dirty="0" smtClean="0"/>
              <a:t> '</a:t>
            </a:r>
            <a:r>
              <a:rPr lang="en-US" dirty="0" err="1" smtClean="0"/>
              <a:t>loginTest</a:t>
            </a:r>
            <a:r>
              <a:rPr lang="en-US" dirty="0" smtClean="0"/>
              <a:t>' </a:t>
            </a:r>
            <a:r>
              <a:rPr lang="en-US" b="1" dirty="0" smtClean="0"/>
              <a:t>FOR</a:t>
            </a:r>
            <a:r>
              <a:rPr lang="en-US" dirty="0" smtClean="0"/>
              <a:t> LOGON </a:t>
            </a:r>
            <a:endParaRPr lang="ru-RU" dirty="0" smtClean="0"/>
          </a:p>
          <a:p>
            <a:pPr fontAlgn="base"/>
            <a:r>
              <a:rPr lang="en-US" b="1" dirty="0" smtClean="0"/>
              <a:t>AS</a:t>
            </a:r>
            <a:endParaRPr lang="ru-RU" b="1" dirty="0" smtClean="0"/>
          </a:p>
          <a:p>
            <a:pPr fontAlgn="base"/>
            <a:r>
              <a:rPr lang="en-US" dirty="0" smtClean="0"/>
              <a:t> </a:t>
            </a:r>
            <a:r>
              <a:rPr lang="en-US" b="1" dirty="0" smtClean="0"/>
              <a:t>BEGIN</a:t>
            </a:r>
            <a:endParaRPr lang="ru-RU" b="1" dirty="0" smtClean="0"/>
          </a:p>
          <a:p>
            <a:pPr fontAlgn="base"/>
            <a:r>
              <a:rPr lang="en-US" dirty="0" smtClean="0"/>
              <a:t> </a:t>
            </a:r>
            <a:r>
              <a:rPr lang="en-US" b="1" dirty="0" smtClean="0"/>
              <a:t>IF</a:t>
            </a:r>
            <a:r>
              <a:rPr lang="en-US" dirty="0" smtClean="0"/>
              <a:t> </a:t>
            </a:r>
            <a:endParaRPr lang="ru-RU" dirty="0" smtClean="0"/>
          </a:p>
          <a:p>
            <a:pPr fontAlgn="base"/>
            <a:r>
              <a:rPr lang="ru-RU" dirty="0" smtClean="0"/>
              <a:t>	</a:t>
            </a:r>
            <a:r>
              <a:rPr lang="en-US" dirty="0" smtClean="0"/>
              <a:t>ORIGINAL_LOGIN()= '</a:t>
            </a:r>
            <a:r>
              <a:rPr lang="en-US" dirty="0" err="1" smtClean="0"/>
              <a:t>loginTest</a:t>
            </a:r>
            <a:r>
              <a:rPr lang="en-US" dirty="0" smtClean="0"/>
              <a:t>' </a:t>
            </a:r>
            <a:endParaRPr lang="ru-RU" dirty="0" smtClean="0"/>
          </a:p>
          <a:p>
            <a:pPr fontAlgn="base"/>
            <a:r>
              <a:rPr lang="ru-RU" b="1" dirty="0" smtClean="0"/>
              <a:t>		</a:t>
            </a:r>
            <a:r>
              <a:rPr lang="en-US" b="1" dirty="0" smtClean="0"/>
              <a:t>AND</a:t>
            </a:r>
            <a:endParaRPr lang="ru-RU" b="1" dirty="0" smtClean="0"/>
          </a:p>
          <a:p>
            <a:pPr fontAlgn="base"/>
            <a:r>
              <a:rPr lang="en-US" dirty="0" smtClean="0"/>
              <a:t> </a:t>
            </a:r>
            <a:r>
              <a:rPr lang="ru-RU" dirty="0" smtClean="0"/>
              <a:t>		</a:t>
            </a:r>
            <a:r>
              <a:rPr lang="en-US" dirty="0" smtClean="0"/>
              <a:t>(</a:t>
            </a:r>
            <a:r>
              <a:rPr lang="en-US" b="1" dirty="0" smtClean="0"/>
              <a:t>SELECT</a:t>
            </a:r>
            <a:r>
              <a:rPr lang="en-US" dirty="0" smtClean="0"/>
              <a:t> </a:t>
            </a:r>
            <a:r>
              <a:rPr lang="en-US" b="1" dirty="0" smtClean="0"/>
              <a:t>COUNT</a:t>
            </a:r>
            <a:r>
              <a:rPr lang="en-US" dirty="0" smtClean="0"/>
              <a:t>(*)</a:t>
            </a:r>
            <a:endParaRPr lang="ru-RU" dirty="0" smtClean="0"/>
          </a:p>
          <a:p>
            <a:pPr fontAlgn="base"/>
            <a:r>
              <a:rPr lang="ru-RU" dirty="0" smtClean="0"/>
              <a:t>		</a:t>
            </a:r>
            <a:r>
              <a:rPr lang="en-US" dirty="0" smtClean="0"/>
              <a:t> </a:t>
            </a:r>
            <a:r>
              <a:rPr lang="en-US" b="1" dirty="0" smtClean="0"/>
              <a:t>FROM</a:t>
            </a:r>
            <a:r>
              <a:rPr lang="en-US" dirty="0" smtClean="0"/>
              <a:t> </a:t>
            </a:r>
            <a:r>
              <a:rPr lang="en-US" dirty="0" err="1" smtClean="0"/>
              <a:t>sys.dm_exec_sessions</a:t>
            </a:r>
            <a:endParaRPr lang="ru-RU" dirty="0" smtClean="0"/>
          </a:p>
          <a:p>
            <a:pPr fontAlgn="base"/>
            <a:r>
              <a:rPr lang="ru-RU" dirty="0" smtClean="0"/>
              <a:t>		</a:t>
            </a:r>
            <a:r>
              <a:rPr lang="en-US" dirty="0" smtClean="0"/>
              <a:t> </a:t>
            </a:r>
            <a:r>
              <a:rPr lang="en-US" b="1" dirty="0" smtClean="0"/>
              <a:t>WHERE</a:t>
            </a:r>
            <a:r>
              <a:rPr lang="en-US" dirty="0" smtClean="0"/>
              <a:t> </a:t>
            </a:r>
            <a:endParaRPr lang="ru-RU" dirty="0" smtClean="0"/>
          </a:p>
          <a:p>
            <a:pPr fontAlgn="base"/>
            <a:r>
              <a:rPr lang="ru-RU" dirty="0" smtClean="0"/>
              <a:t>		</a:t>
            </a:r>
            <a:r>
              <a:rPr lang="en-US" dirty="0" err="1" smtClean="0"/>
              <a:t>is_user_process</a:t>
            </a:r>
            <a:r>
              <a:rPr lang="en-US" dirty="0" smtClean="0"/>
              <a:t> = 1 </a:t>
            </a:r>
            <a:r>
              <a:rPr lang="en-US" b="1" dirty="0" smtClean="0"/>
              <a:t>AND</a:t>
            </a:r>
            <a:r>
              <a:rPr lang="en-US" dirty="0" smtClean="0"/>
              <a:t> </a:t>
            </a:r>
            <a:r>
              <a:rPr lang="en-US" dirty="0" err="1" smtClean="0"/>
              <a:t>original_login_name</a:t>
            </a:r>
            <a:r>
              <a:rPr lang="en-US" dirty="0" smtClean="0"/>
              <a:t> = '</a:t>
            </a:r>
            <a:r>
              <a:rPr lang="en-US" dirty="0" err="1" smtClean="0"/>
              <a:t>loginTest</a:t>
            </a:r>
            <a:r>
              <a:rPr lang="en-US" dirty="0" smtClean="0"/>
              <a:t>') &gt; 1 </a:t>
            </a:r>
            <a:r>
              <a:rPr lang="en-US" b="1" dirty="0" smtClean="0"/>
              <a:t>ROLLBACK</a:t>
            </a:r>
            <a:r>
              <a:rPr lang="en-US" dirty="0" smtClean="0"/>
              <a:t>;</a:t>
            </a:r>
            <a:endParaRPr lang="ru-RU" dirty="0" smtClean="0"/>
          </a:p>
          <a:p>
            <a:pPr fontAlgn="base"/>
            <a:r>
              <a:rPr lang="en-US" dirty="0" smtClean="0"/>
              <a:t> </a:t>
            </a:r>
            <a:r>
              <a:rPr lang="en-US" b="1" dirty="0" smtClean="0"/>
              <a:t>END</a:t>
            </a:r>
            <a:r>
              <a:rPr lang="en-US" dirty="0" smtClean="0"/>
              <a:t>; </a:t>
            </a:r>
            <a:br>
              <a:rPr lang="en-US" dirty="0" smtClean="0"/>
            </a:b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utoUpdateAnimBg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1000" y="762000"/>
            <a:ext cx="84582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i="1" dirty="0"/>
              <a:t>Просмотр событий, вызвавших срабатывание </a:t>
            </a:r>
            <a:r>
              <a:rPr lang="ru-RU" b="1" i="1" dirty="0" smtClean="0"/>
              <a:t>триггера</a:t>
            </a:r>
            <a:endParaRPr lang="en-US" b="1" i="1" dirty="0" smtClean="0"/>
          </a:p>
          <a:p>
            <a:endParaRPr lang="ru-RU" b="1" i="1" dirty="0"/>
          </a:p>
          <a:p>
            <a:r>
              <a:rPr lang="ru-RU" dirty="0"/>
              <a:t>В следующем примере выполняются запросы к представлениям каталога </a:t>
            </a:r>
            <a:r>
              <a:rPr lang="en-US" dirty="0" err="1"/>
              <a:t>sys.triggers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sys.trigger_events</a:t>
            </a:r>
            <a:r>
              <a:rPr lang="en-US" dirty="0"/>
              <a:t> </a:t>
            </a:r>
            <a:r>
              <a:rPr lang="ru-RU" dirty="0"/>
              <a:t>с целью определения, какие события языка </a:t>
            </a:r>
            <a:r>
              <a:rPr lang="en-US" dirty="0"/>
              <a:t>Transact-SQL </a:t>
            </a:r>
            <a:r>
              <a:rPr lang="ru-RU" dirty="0"/>
              <a:t>вызывали срабатывание </a:t>
            </a:r>
            <a:r>
              <a:rPr lang="ru-RU" dirty="0" smtClean="0"/>
              <a:t>триггера</a:t>
            </a:r>
            <a:r>
              <a:rPr lang="en-US" dirty="0" smtClean="0"/>
              <a:t>. </a:t>
            </a:r>
            <a:endParaRPr lang="ru-RU" dirty="0"/>
          </a:p>
          <a:p>
            <a:endParaRPr lang="ru-RU" dirty="0"/>
          </a:p>
          <a:p>
            <a:endParaRPr lang="en-US" dirty="0"/>
          </a:p>
          <a:p>
            <a:r>
              <a:rPr lang="en-US" dirty="0" smtClean="0"/>
              <a:t>SELECT </a:t>
            </a:r>
            <a:r>
              <a:rPr lang="en-US" dirty="0"/>
              <a:t>TE.*  </a:t>
            </a:r>
          </a:p>
          <a:p>
            <a:r>
              <a:rPr lang="en-US" dirty="0"/>
              <a:t>FROM </a:t>
            </a:r>
            <a:r>
              <a:rPr lang="en-US" dirty="0" err="1"/>
              <a:t>sys.trigger_events</a:t>
            </a:r>
            <a:r>
              <a:rPr lang="en-US" dirty="0"/>
              <a:t> AS TE  </a:t>
            </a:r>
          </a:p>
          <a:p>
            <a:r>
              <a:rPr lang="en-US" dirty="0"/>
              <a:t>JOIN </a:t>
            </a:r>
            <a:r>
              <a:rPr lang="en-US" dirty="0" err="1"/>
              <a:t>sys.triggers</a:t>
            </a:r>
            <a:r>
              <a:rPr lang="en-US" dirty="0"/>
              <a:t> AS T ON </a:t>
            </a:r>
            <a:r>
              <a:rPr lang="en-US" dirty="0" err="1"/>
              <a:t>T.object_id</a:t>
            </a:r>
            <a:r>
              <a:rPr lang="en-US" dirty="0"/>
              <a:t> = </a:t>
            </a:r>
            <a:r>
              <a:rPr lang="en-US" dirty="0" err="1"/>
              <a:t>TE.object_id</a:t>
            </a:r>
            <a:r>
              <a:rPr lang="en-US" dirty="0"/>
              <a:t>  </a:t>
            </a:r>
          </a:p>
          <a:p>
            <a:r>
              <a:rPr lang="en-US" dirty="0"/>
              <a:t>WHERE </a:t>
            </a:r>
            <a:r>
              <a:rPr lang="en-US" dirty="0" err="1"/>
              <a:t>T.parent_class</a:t>
            </a:r>
            <a:r>
              <a:rPr lang="en-US" dirty="0"/>
              <a:t> = 0 AND </a:t>
            </a:r>
            <a:r>
              <a:rPr lang="en-US" i="1" dirty="0"/>
              <a:t>T.name = </a:t>
            </a:r>
            <a:r>
              <a:rPr lang="en-US" i="1" dirty="0" smtClean="0"/>
              <a:t>'</a:t>
            </a:r>
            <a:r>
              <a:rPr lang="en-US" dirty="0" err="1"/>
              <a:t>trigger_ConnectionLimit</a:t>
            </a:r>
            <a:r>
              <a:rPr lang="en-US" dirty="0"/>
              <a:t> </a:t>
            </a:r>
            <a:r>
              <a:rPr lang="en-US" i="1" dirty="0" smtClean="0"/>
              <a:t>';  </a:t>
            </a:r>
            <a:endParaRPr lang="en-US" i="1" dirty="0"/>
          </a:p>
          <a:p>
            <a:r>
              <a:rPr lang="en-US" dirty="0"/>
              <a:t>GO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90852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62000" y="762000"/>
            <a:ext cx="4572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Многомерное представление данных. Общая схема организации хранилища данных. Характеристики, типы и основные отличия технологий OLAP и OLTP. Схемы звезда и снежинка. Агрегирование.</a:t>
            </a:r>
          </a:p>
        </p:txBody>
      </p:sp>
    </p:spTree>
    <p:extLst>
      <p:ext uri="{BB962C8B-B14F-4D97-AF65-F5344CB8AC3E}">
        <p14:creationId xmlns:p14="http://schemas.microsoft.com/office/powerpoint/2010/main" val="3203434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2627</TotalTime>
  <Words>3044</Words>
  <Application>Microsoft Office PowerPoint</Application>
  <PresentationFormat>Экран (4:3)</PresentationFormat>
  <Paragraphs>983</Paragraphs>
  <Slides>74</Slides>
  <Notes>54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74</vt:i4>
      </vt:variant>
    </vt:vector>
  </HeadingPairs>
  <TitlesOfParts>
    <vt:vector size="80" baseType="lpstr">
      <vt:lpstr>Arial</vt:lpstr>
      <vt:lpstr>Calibri</vt:lpstr>
      <vt:lpstr>Symbol</vt:lpstr>
      <vt:lpstr>Times New Roman</vt:lpstr>
      <vt:lpstr>Wingdings</vt:lpstr>
      <vt:lpstr>Office Theme</vt:lpstr>
      <vt:lpstr>Технологии баз данных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Технологии баз данных</dc:title>
  <dc:creator>olya_v</dc:creator>
  <cp:lastModifiedBy>Власова Ольга Владимировна</cp:lastModifiedBy>
  <cp:revision>186</cp:revision>
  <dcterms:created xsi:type="dcterms:W3CDTF">2006-08-16T00:00:00Z</dcterms:created>
  <dcterms:modified xsi:type="dcterms:W3CDTF">2024-12-10T06:01:30Z</dcterms:modified>
</cp:coreProperties>
</file>